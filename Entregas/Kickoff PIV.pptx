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7" r:id="rId3"/>
    <p:sldId id="261" r:id="rId4"/>
    <p:sldId id="263" r:id="rId5"/>
    <p:sldId id="262" r:id="rId6"/>
    <p:sldId id="264" r:id="rId7"/>
    <p:sldId id="265" r:id="rId8"/>
    <p:sldId id="266" r:id="rId9"/>
    <p:sldId id="267" r:id="rId10"/>
    <p:sldId id="268" r:id="rId1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2E8CCAD-9FAD-4990-8A25-C891E918DD11}">
  <a:tblStyle styleId="{52E8CCAD-9FAD-4990-8A25-C891E918DD11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0290" autoAdjust="0"/>
  </p:normalViewPr>
  <p:slideViewPr>
    <p:cSldViewPr snapToGrid="0">
      <p:cViewPr varScale="1">
        <p:scale>
          <a:sx n="63" d="100"/>
          <a:sy n="63" d="100"/>
        </p:scale>
        <p:origin x="12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7" name="Google Shape;9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909161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fontAlgn="t"/>
            <a:r>
              <a:rPr lang="pt-B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Devido à limitação no número de </a:t>
            </a:r>
            <a:r>
              <a:rPr lang="pt-BR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choppeiras</a:t>
            </a:r>
            <a:r>
              <a:rPr lang="pt-B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disponíveis e aos períodos recorrentes de alta demanda, a distribuidora enfrenta situações de ruptura de produto, o que torna necessária a priorização de determinados clientes. Além disso, a operação requer que as </a:t>
            </a:r>
            <a:r>
              <a:rPr lang="pt-BR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choppeiras</a:t>
            </a:r>
            <a:r>
              <a:rPr lang="pt-B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sejam devolvidas dentro do prazo, garantindo a disponibilidade para novos atendimentos e reduzindo gargalos logísticos.</a:t>
            </a:r>
          </a:p>
          <a:p>
            <a:pPr fontAlgn="t"/>
            <a:r>
              <a:rPr lang="pt-B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Diante desse cenário, a distribuidora identifica a necessidade de desenvolver uma metodologia estruturada que permita:</a:t>
            </a:r>
          </a:p>
          <a:p>
            <a:pPr fontAlgn="t"/>
            <a:r>
              <a:rPr lang="pt-B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estabelecer critérios objetivos de priorização de clientes, de acordo com seu perfil de consumo e relevância comercial;</a:t>
            </a:r>
          </a:p>
          <a:p>
            <a:pPr fontAlgn="t"/>
            <a:r>
              <a:rPr lang="pt-B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aprimorar o planejamento de estoque, considerando sazonalidade, variação de demanda e capacidade operacional;</a:t>
            </a:r>
          </a:p>
          <a:p>
            <a:pPr fontAlgn="t"/>
            <a:r>
              <a:rPr lang="pt-B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mitigar riscos de falta de produto em períodos críticos e otimizar o uso dos equipamentos disponíveis.</a:t>
            </a:r>
          </a:p>
          <a:p>
            <a:pPr fontAlgn="t"/>
            <a:r>
              <a:rPr lang="pt-B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Essa metodologia deve apoiar a tomada de decisão e promover maior eficiência no atendimento, especialmente durante os períodos de maior demanda.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7" name="Google Shape;9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01913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990095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096833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617646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804044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7163526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920633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" type="title">
  <p:cSld name="TITLE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3" name="Google Shape;23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 type="obj">
  <p:cSld name="OBJEC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beçalho da Seção" type="secHead">
  <p:cSld name="SECTION_HEADER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5" name="Google Shape;35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uas Partes de Conteúdo" type="twoObj">
  <p:cSld name="TWO_OBJECT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ção" type="twoTxTwoObj">
  <p:cSld name="TWO_OBJECTS_WITH_TEX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0" name="Google Shape;50;p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mente Título" type="titleOnly">
  <p:cSld name="TITLE_ONLY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m Branco" type="blank">
  <p:cSld name="BLANK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údo com Legenda" type="objTx">
  <p:cSld name="OBJECT_WITH_CAPTION_TEXT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6" name="Google Shape;66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7" name="Google Shape;67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m com Legenda" type="picTx">
  <p:cSld name="PICTURE_WITH_CAPTION_TEX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4" name="Google Shape;74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Texto Vertical" type="vertTx">
  <p:cSld name="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1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o e Título Vertical" type="vertTitleAndTx">
  <p:cSld name="VERTICAL_TITLE_AND_VERTICAL_TEXT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2"/>
          <p:cNvSpPr txBox="1">
            <a:spLocks noGrp="1"/>
          </p:cNvSpPr>
          <p:nvPr>
            <p:ph type="title"/>
          </p:nvPr>
        </p:nvSpPr>
        <p:spPr>
          <a:xfrm rot="5400000">
            <a:off x="7133400" y="1956625"/>
            <a:ext cx="5811900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2"/>
          <p:cNvSpPr txBox="1">
            <a:spLocks noGrp="1"/>
          </p:cNvSpPr>
          <p:nvPr>
            <p:ph type="body" idx="1"/>
          </p:nvPr>
        </p:nvSpPr>
        <p:spPr>
          <a:xfrm rot="5400000">
            <a:off x="1799400" y="-596075"/>
            <a:ext cx="5811900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6" name="Google Shape;86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6" name="Google Shape;16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7" name="Google Shape;17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8" name="Google Shape;18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9" name="Google Shape;19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jpe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2.jpeg"/><Relationship Id="rId9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2" name="Picture 8" descr="https://www.lista11.com.br/adm/fotos/estabelecimentos/3455/premium-chopp-distribuidora-de-bebidas-aluguel-de-maquina-de-chopp-em-caieiras-delivery-de-bebidas-cerveja-artesanal-em-franco-da-rocha-centro_3455_11619_170801538065ce3f1445c2e.jpeg">
            <a:extLst>
              <a:ext uri="{FF2B5EF4-FFF2-40B4-BE49-F238E27FC236}">
                <a16:creationId xmlns:a16="http://schemas.microsoft.com/office/drawing/2014/main" id="{BB64E13B-3F19-4A07-8227-D0CED6E9B9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5F477338-F891-4A4A-A0AB-4ADA3EE54C5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8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3" name="Google Shape;93;p13"/>
          <p:cNvSpPr txBox="1">
            <a:spLocks noGrp="1"/>
          </p:cNvSpPr>
          <p:nvPr>
            <p:ph type="ctrTitle"/>
          </p:nvPr>
        </p:nvSpPr>
        <p:spPr>
          <a:xfrm>
            <a:off x="4108314" y="1790869"/>
            <a:ext cx="4195864" cy="1146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>
              <a:buSzPts val="2400"/>
              <a:buFont typeface="Arial"/>
            </a:pPr>
            <a:r>
              <a:rPr lang="pt-BR" b="1" dirty="0">
                <a:gradFill flip="none" rotWithShape="1">
                  <a:gsLst>
                    <a:gs pos="0">
                      <a:srgbClr val="FF0000">
                        <a:shade val="30000"/>
                        <a:satMod val="115000"/>
                      </a:srgbClr>
                    </a:gs>
                    <a:gs pos="50000">
                      <a:srgbClr val="FF0000">
                        <a:shade val="67500"/>
                        <a:satMod val="115000"/>
                      </a:srgbClr>
                    </a:gs>
                    <a:gs pos="100000">
                      <a:srgbClr val="FF0000">
                        <a:shade val="100000"/>
                        <a:satMod val="115000"/>
                      </a:srgbClr>
                    </a:gs>
                  </a:gsLst>
                  <a:lin ang="16200000" scaled="1"/>
                  <a:tileRect/>
                </a:gradFill>
              </a:rPr>
              <a:t>Chopp e Cia</a:t>
            </a:r>
            <a:endParaRPr b="1" dirty="0">
              <a:gradFill flip="none" rotWithShape="1">
                <a:gsLst>
                  <a:gs pos="0">
                    <a:srgbClr val="FF0000">
                      <a:shade val="30000"/>
                      <a:satMod val="115000"/>
                    </a:srgbClr>
                  </a:gs>
                  <a:gs pos="50000">
                    <a:srgbClr val="FF0000">
                      <a:shade val="67500"/>
                      <a:satMod val="115000"/>
                    </a:srgbClr>
                  </a:gs>
                  <a:gs pos="100000">
                    <a:srgbClr val="FF0000">
                      <a:shade val="100000"/>
                      <a:satMod val="115000"/>
                    </a:srgbClr>
                  </a:gs>
                </a:gsLst>
                <a:lin ang="16200000" scaled="1"/>
                <a:tileRect/>
              </a:gradFill>
            </a:endParaRPr>
          </a:p>
        </p:txBody>
      </p:sp>
      <p:sp>
        <p:nvSpPr>
          <p:cNvPr id="94" name="Google Shape;94;p13"/>
          <p:cNvSpPr txBox="1">
            <a:spLocks noGrp="1"/>
          </p:cNvSpPr>
          <p:nvPr>
            <p:ph type="subTitle" idx="1"/>
          </p:nvPr>
        </p:nvSpPr>
        <p:spPr>
          <a:xfrm>
            <a:off x="3816483" y="2762717"/>
            <a:ext cx="5051899" cy="6662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>
              <a:spcBef>
                <a:spcPts val="0"/>
              </a:spcBef>
            </a:pPr>
            <a:r>
              <a:rPr lang="pt-BR" sz="3200" b="1" dirty="0">
                <a:gradFill flip="none" rotWithShape="1">
                  <a:gsLst>
                    <a:gs pos="0">
                      <a:srgbClr val="FF0000">
                        <a:shade val="30000"/>
                        <a:satMod val="115000"/>
                      </a:srgbClr>
                    </a:gs>
                    <a:gs pos="50000">
                      <a:srgbClr val="FF0000">
                        <a:shade val="67500"/>
                        <a:satMod val="115000"/>
                      </a:srgbClr>
                    </a:gs>
                    <a:gs pos="100000">
                      <a:srgbClr val="FF0000">
                        <a:shade val="100000"/>
                        <a:satMod val="115000"/>
                      </a:srgbClr>
                    </a:gs>
                  </a:gsLst>
                  <a:lin ang="16200000" scaled="1"/>
                  <a:tileRect/>
                </a:gradFill>
                <a:sym typeface="Arial"/>
              </a:rPr>
              <a:t>Reunião de </a:t>
            </a:r>
            <a:r>
              <a:rPr lang="pt-BR" sz="3200" b="1" dirty="0" err="1">
                <a:gradFill flip="none" rotWithShape="1">
                  <a:gsLst>
                    <a:gs pos="0">
                      <a:srgbClr val="FF0000">
                        <a:shade val="30000"/>
                        <a:satMod val="115000"/>
                      </a:srgbClr>
                    </a:gs>
                    <a:gs pos="50000">
                      <a:srgbClr val="FF0000">
                        <a:shade val="67500"/>
                        <a:satMod val="115000"/>
                      </a:srgbClr>
                    </a:gs>
                    <a:gs pos="100000">
                      <a:srgbClr val="FF0000">
                        <a:shade val="100000"/>
                        <a:satMod val="115000"/>
                      </a:srgbClr>
                    </a:gs>
                  </a:gsLst>
                  <a:lin ang="16200000" scaled="1"/>
                  <a:tileRect/>
                </a:gradFill>
                <a:sym typeface="Arial"/>
              </a:rPr>
              <a:t>Kick</a:t>
            </a:r>
            <a:r>
              <a:rPr lang="pt-BR" sz="3200" b="1" dirty="0">
                <a:gradFill flip="none" rotWithShape="1">
                  <a:gsLst>
                    <a:gs pos="0">
                      <a:srgbClr val="FF0000">
                        <a:shade val="30000"/>
                        <a:satMod val="115000"/>
                      </a:srgbClr>
                    </a:gs>
                    <a:gs pos="50000">
                      <a:srgbClr val="FF0000">
                        <a:shade val="67500"/>
                        <a:satMod val="115000"/>
                      </a:srgbClr>
                    </a:gs>
                    <a:gs pos="100000">
                      <a:srgbClr val="FF0000">
                        <a:shade val="100000"/>
                        <a:satMod val="115000"/>
                      </a:srgbClr>
                    </a:gs>
                  </a:gsLst>
                  <a:lin ang="16200000" scaled="1"/>
                  <a:tileRect/>
                </a:gradFill>
                <a:sym typeface="Arial"/>
              </a:rPr>
              <a:t>-Off</a:t>
            </a:r>
            <a:endParaRPr sz="3200" b="1" dirty="0">
              <a:gradFill flip="none" rotWithShape="1">
                <a:gsLst>
                  <a:gs pos="0">
                    <a:srgbClr val="FF0000">
                      <a:shade val="30000"/>
                      <a:satMod val="115000"/>
                    </a:srgbClr>
                  </a:gs>
                  <a:gs pos="50000">
                    <a:srgbClr val="FF0000">
                      <a:shade val="67500"/>
                      <a:satMod val="115000"/>
                    </a:srgbClr>
                  </a:gs>
                  <a:gs pos="100000">
                    <a:srgbClr val="FF0000">
                      <a:shade val="100000"/>
                      <a:satMod val="115000"/>
                    </a:srgbClr>
                  </a:gs>
                </a:gsLst>
                <a:lin ang="16200000" scaled="1"/>
                <a:tileRect/>
              </a:gradFill>
              <a:sym typeface="Arial"/>
            </a:endParaRPr>
          </a:p>
        </p:txBody>
      </p:sp>
      <p:sp>
        <p:nvSpPr>
          <p:cNvPr id="9" name="Google Shape;94;p13">
            <a:extLst>
              <a:ext uri="{FF2B5EF4-FFF2-40B4-BE49-F238E27FC236}">
                <a16:creationId xmlns:a16="http://schemas.microsoft.com/office/drawing/2014/main" id="{1366E767-D729-4BD4-AECA-33EEC4C43965}"/>
              </a:ext>
            </a:extLst>
          </p:cNvPr>
          <p:cNvSpPr txBox="1">
            <a:spLocks/>
          </p:cNvSpPr>
          <p:nvPr/>
        </p:nvSpPr>
        <p:spPr>
          <a:xfrm>
            <a:off x="3920246" y="5467662"/>
            <a:ext cx="4572000" cy="815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spcBef>
                <a:spcPts val="0"/>
              </a:spcBef>
            </a:pPr>
            <a:r>
              <a:rPr lang="pt-BR" b="1" dirty="0">
                <a:gradFill flip="none" rotWithShape="1">
                  <a:gsLst>
                    <a:gs pos="0">
                      <a:srgbClr val="FF0000">
                        <a:shade val="30000"/>
                        <a:satMod val="115000"/>
                      </a:srgbClr>
                    </a:gs>
                    <a:gs pos="50000">
                      <a:srgbClr val="FF0000">
                        <a:shade val="67500"/>
                        <a:satMod val="115000"/>
                      </a:srgbClr>
                    </a:gs>
                    <a:gs pos="100000">
                      <a:srgbClr val="FF0000">
                        <a:shade val="100000"/>
                        <a:satMod val="115000"/>
                      </a:srgbClr>
                    </a:gs>
                  </a:gsLst>
                  <a:lin ang="16200000" scaled="1"/>
                  <a:tileRect/>
                </a:gradFill>
              </a:rPr>
              <a:t>Projeto Integrador V</a:t>
            </a:r>
            <a:br>
              <a:rPr lang="pt-BR" b="1" dirty="0">
                <a:gradFill flip="none" rotWithShape="1">
                  <a:gsLst>
                    <a:gs pos="0">
                      <a:srgbClr val="FF0000">
                        <a:shade val="30000"/>
                        <a:satMod val="115000"/>
                      </a:srgbClr>
                    </a:gs>
                    <a:gs pos="50000">
                      <a:srgbClr val="FF0000">
                        <a:shade val="67500"/>
                        <a:satMod val="115000"/>
                      </a:srgbClr>
                    </a:gs>
                    <a:gs pos="100000">
                      <a:srgbClr val="FF0000">
                        <a:shade val="100000"/>
                        <a:satMod val="115000"/>
                      </a:srgbClr>
                    </a:gs>
                  </a:gsLst>
                  <a:lin ang="16200000" scaled="1"/>
                  <a:tileRect/>
                </a:gradFill>
              </a:rPr>
            </a:br>
            <a:r>
              <a:rPr lang="pt-BR" b="1" dirty="0">
                <a:gradFill flip="none" rotWithShape="1">
                  <a:gsLst>
                    <a:gs pos="0">
                      <a:srgbClr val="FF0000">
                        <a:shade val="30000"/>
                        <a:satMod val="115000"/>
                      </a:srgbClr>
                    </a:gs>
                    <a:gs pos="50000">
                      <a:srgbClr val="FF0000">
                        <a:shade val="67500"/>
                        <a:satMod val="115000"/>
                      </a:srgbClr>
                    </a:gs>
                    <a:gs pos="100000">
                      <a:srgbClr val="FF0000">
                        <a:shade val="100000"/>
                        <a:satMod val="115000"/>
                      </a:srgbClr>
                    </a:gs>
                  </a:gsLst>
                  <a:lin ang="16200000" scaled="1"/>
                  <a:tileRect/>
                </a:gradFill>
              </a:rPr>
              <a:t>Projetos em Ciência de Dados I</a:t>
            </a:r>
            <a:endParaRPr lang="pt-BR" b="1" dirty="0">
              <a:ln w="12700" cmpd="sng">
                <a:noFill/>
                <a:prstDash val="solid"/>
              </a:ln>
              <a:gradFill flip="none" rotWithShape="1">
                <a:gsLst>
                  <a:gs pos="0">
                    <a:srgbClr val="FF0000">
                      <a:shade val="30000"/>
                      <a:satMod val="115000"/>
                    </a:srgbClr>
                  </a:gs>
                  <a:gs pos="50000">
                    <a:srgbClr val="FF0000">
                      <a:shade val="67500"/>
                      <a:satMod val="115000"/>
                    </a:srgbClr>
                  </a:gs>
                  <a:gs pos="100000">
                    <a:srgbClr val="FF0000">
                      <a:shade val="100000"/>
                      <a:satMod val="115000"/>
                    </a:srgbClr>
                  </a:gs>
                </a:gsLst>
                <a:lin ang="16200000" scaled="1"/>
                <a:tileRect/>
              </a:gradFill>
            </a:endParaRPr>
          </a:p>
        </p:txBody>
      </p:sp>
      <p:pic>
        <p:nvPicPr>
          <p:cNvPr id="1030" name="Picture 6" descr="https://bkpsitecpsnew.blob.core.windows.net/uploadsitecps/sites/1/2012/05/Logo-Fatec-1200x800-1.jpg">
            <a:extLst>
              <a:ext uri="{FF2B5EF4-FFF2-40B4-BE49-F238E27FC236}">
                <a16:creationId xmlns:a16="http://schemas.microsoft.com/office/drawing/2014/main" id="{7710B934-0E8D-44DB-8D26-3F26F572A2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9758" y="0"/>
            <a:ext cx="3172484" cy="2114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8" descr="https://www.lista11.com.br/adm/fotos/estabelecimentos/3455/premium-chopp-distribuidora-de-bebidas-aluguel-de-maquina-de-chopp-em-caieiras-delivery-de-bebidas-cerveja-artesanal-em-franco-da-rocha-centro_3455_11619_170801538065ce3f1445c2e.jpeg">
            <a:extLst>
              <a:ext uri="{FF2B5EF4-FFF2-40B4-BE49-F238E27FC236}">
                <a16:creationId xmlns:a16="http://schemas.microsoft.com/office/drawing/2014/main" id="{CA8DB991-8025-4F8D-B669-A9ECB2A129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CD734625-5F5C-42E5-9CC6-47887DA2096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8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9" name="Google Shape;94;p13">
            <a:extLst>
              <a:ext uri="{FF2B5EF4-FFF2-40B4-BE49-F238E27FC236}">
                <a16:creationId xmlns:a16="http://schemas.microsoft.com/office/drawing/2014/main" id="{15C6852B-60B6-4419-85A2-07B282661034}"/>
              </a:ext>
            </a:extLst>
          </p:cNvPr>
          <p:cNvSpPr txBox="1">
            <a:spLocks/>
          </p:cNvSpPr>
          <p:nvPr/>
        </p:nvSpPr>
        <p:spPr>
          <a:xfrm>
            <a:off x="1314450" y="1549942"/>
            <a:ext cx="5727192" cy="3192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-457200" algn="l">
              <a:lnSpc>
                <a:spcPct val="150000"/>
              </a:lnSpc>
              <a:spcBef>
                <a:spcPts val="0"/>
              </a:spcBef>
              <a:buClr>
                <a:srgbClr val="FF0000"/>
              </a:buClr>
              <a:buFont typeface="+mj-lt"/>
              <a:buAutoNum type="arabicPeriod"/>
            </a:pPr>
            <a:r>
              <a:rPr lang="pt-BR" b="1" dirty="0">
                <a:ln w="12700" cmpd="sng">
                  <a:noFill/>
                  <a:prstDash val="solid"/>
                </a:ln>
                <a:gradFill flip="none" rotWithShape="1">
                  <a:gsLst>
                    <a:gs pos="0">
                      <a:srgbClr val="FF0000">
                        <a:shade val="30000"/>
                        <a:satMod val="115000"/>
                      </a:srgbClr>
                    </a:gs>
                    <a:gs pos="50000">
                      <a:srgbClr val="FF0000">
                        <a:shade val="67500"/>
                        <a:satMod val="115000"/>
                      </a:srgbClr>
                    </a:gs>
                    <a:gs pos="100000">
                      <a:srgbClr val="FF0000">
                        <a:shade val="100000"/>
                        <a:satMod val="115000"/>
                      </a:srgbClr>
                    </a:gs>
                  </a:gsLst>
                  <a:lin ang="16200000" scaled="1"/>
                  <a:tileRect/>
                </a:gradFill>
              </a:rPr>
              <a:t>Resumo do Problema</a:t>
            </a:r>
          </a:p>
          <a:p>
            <a:pPr indent="-457200" algn="l">
              <a:lnSpc>
                <a:spcPct val="150000"/>
              </a:lnSpc>
              <a:spcBef>
                <a:spcPts val="0"/>
              </a:spcBef>
              <a:buClr>
                <a:srgbClr val="FF0000"/>
              </a:buClr>
              <a:buFont typeface="+mj-lt"/>
              <a:buAutoNum type="arabicPeriod"/>
            </a:pPr>
            <a:r>
              <a:rPr lang="pt-BR" b="1" dirty="0">
                <a:ln w="12700" cmpd="sng">
                  <a:noFill/>
                  <a:prstDash val="solid"/>
                </a:ln>
                <a:gradFill flip="none" rotWithShape="1">
                  <a:gsLst>
                    <a:gs pos="0">
                      <a:srgbClr val="FF0000">
                        <a:shade val="30000"/>
                        <a:satMod val="115000"/>
                      </a:srgbClr>
                    </a:gs>
                    <a:gs pos="50000">
                      <a:srgbClr val="FF0000">
                        <a:shade val="67500"/>
                        <a:satMod val="115000"/>
                      </a:srgbClr>
                    </a:gs>
                    <a:gs pos="100000">
                      <a:srgbClr val="FF0000">
                        <a:shade val="100000"/>
                        <a:satMod val="115000"/>
                      </a:srgbClr>
                    </a:gs>
                  </a:gsLst>
                  <a:lin ang="16200000" scaled="1"/>
                  <a:tileRect/>
                </a:gradFill>
              </a:rPr>
              <a:t>Solução Proposta</a:t>
            </a:r>
          </a:p>
          <a:p>
            <a:pPr indent="-457200" algn="l">
              <a:lnSpc>
                <a:spcPct val="150000"/>
              </a:lnSpc>
              <a:spcBef>
                <a:spcPts val="0"/>
              </a:spcBef>
              <a:buClr>
                <a:srgbClr val="FF0000"/>
              </a:buClr>
              <a:buFont typeface="+mj-lt"/>
              <a:buAutoNum type="arabicPeriod"/>
            </a:pPr>
            <a:r>
              <a:rPr lang="pt-BR" b="1" dirty="0">
                <a:ln w="12700" cmpd="sng">
                  <a:noFill/>
                  <a:prstDash val="solid"/>
                </a:ln>
                <a:gradFill flip="none" rotWithShape="1">
                  <a:gsLst>
                    <a:gs pos="0">
                      <a:srgbClr val="FF0000">
                        <a:shade val="30000"/>
                        <a:satMod val="115000"/>
                      </a:srgbClr>
                    </a:gs>
                    <a:gs pos="50000">
                      <a:srgbClr val="FF0000">
                        <a:shade val="67500"/>
                        <a:satMod val="115000"/>
                      </a:srgbClr>
                    </a:gs>
                    <a:gs pos="100000">
                      <a:srgbClr val="FF0000">
                        <a:shade val="100000"/>
                        <a:satMod val="115000"/>
                      </a:srgbClr>
                    </a:gs>
                  </a:gsLst>
                  <a:lin ang="16200000" scaled="1"/>
                  <a:tileRect/>
                </a:gradFill>
              </a:rPr>
              <a:t>Principais Etapas</a:t>
            </a:r>
          </a:p>
          <a:p>
            <a:pPr indent="-457200" algn="l">
              <a:lnSpc>
                <a:spcPct val="150000"/>
              </a:lnSpc>
              <a:spcBef>
                <a:spcPts val="0"/>
              </a:spcBef>
              <a:buClr>
                <a:srgbClr val="FF0000"/>
              </a:buClr>
              <a:buFont typeface="+mj-lt"/>
              <a:buAutoNum type="arabicPeriod"/>
            </a:pPr>
            <a:r>
              <a:rPr lang="pt-BR" b="1" dirty="0">
                <a:ln w="12700" cmpd="sng">
                  <a:noFill/>
                  <a:prstDash val="solid"/>
                </a:ln>
                <a:gradFill flip="none" rotWithShape="1">
                  <a:gsLst>
                    <a:gs pos="0">
                      <a:srgbClr val="FF0000">
                        <a:shade val="30000"/>
                        <a:satMod val="115000"/>
                      </a:srgbClr>
                    </a:gs>
                    <a:gs pos="50000">
                      <a:srgbClr val="FF0000">
                        <a:shade val="67500"/>
                        <a:satMod val="115000"/>
                      </a:srgbClr>
                    </a:gs>
                    <a:gs pos="100000">
                      <a:srgbClr val="FF0000">
                        <a:shade val="100000"/>
                        <a:satMod val="115000"/>
                      </a:srgbClr>
                    </a:gs>
                  </a:gsLst>
                  <a:lin ang="16200000" scaled="1"/>
                  <a:tileRect/>
                </a:gradFill>
              </a:rPr>
              <a:t>Responsáveis</a:t>
            </a:r>
          </a:p>
          <a:p>
            <a:pPr indent="-457200" algn="l">
              <a:lnSpc>
                <a:spcPct val="150000"/>
              </a:lnSpc>
              <a:spcBef>
                <a:spcPts val="0"/>
              </a:spcBef>
              <a:buClr>
                <a:srgbClr val="FF0000"/>
              </a:buClr>
              <a:buFont typeface="+mj-lt"/>
              <a:buAutoNum type="arabicPeriod"/>
            </a:pPr>
            <a:r>
              <a:rPr lang="pt-BR" b="1" dirty="0">
                <a:ln w="12700" cmpd="sng">
                  <a:noFill/>
                  <a:prstDash val="solid"/>
                </a:ln>
                <a:gradFill flip="none" rotWithShape="1">
                  <a:gsLst>
                    <a:gs pos="0">
                      <a:srgbClr val="FF0000">
                        <a:shade val="30000"/>
                        <a:satMod val="115000"/>
                      </a:srgbClr>
                    </a:gs>
                    <a:gs pos="50000">
                      <a:srgbClr val="FF0000">
                        <a:shade val="67500"/>
                        <a:satMod val="115000"/>
                      </a:srgbClr>
                    </a:gs>
                    <a:gs pos="100000">
                      <a:srgbClr val="FF0000">
                        <a:shade val="100000"/>
                        <a:satMod val="115000"/>
                      </a:srgbClr>
                    </a:gs>
                  </a:gsLst>
                  <a:lin ang="16200000" scaled="1"/>
                  <a:tileRect/>
                </a:gradFill>
              </a:rPr>
              <a:t>Cronograma Preliminar</a:t>
            </a:r>
          </a:p>
          <a:p>
            <a:pPr indent="-457200" algn="l">
              <a:lnSpc>
                <a:spcPct val="150000"/>
              </a:lnSpc>
              <a:spcBef>
                <a:spcPts val="0"/>
              </a:spcBef>
              <a:buClr>
                <a:srgbClr val="FF0000"/>
              </a:buClr>
              <a:buFont typeface="+mj-lt"/>
              <a:buAutoNum type="arabicPeriod"/>
            </a:pPr>
            <a:r>
              <a:rPr lang="pt-BR" b="1" dirty="0">
                <a:ln w="12700" cmpd="sng">
                  <a:noFill/>
                  <a:prstDash val="solid"/>
                </a:ln>
                <a:gradFill flip="none" rotWithShape="1">
                  <a:gsLst>
                    <a:gs pos="0">
                      <a:srgbClr val="FF0000">
                        <a:shade val="30000"/>
                        <a:satMod val="115000"/>
                      </a:srgbClr>
                    </a:gs>
                    <a:gs pos="50000">
                      <a:srgbClr val="FF0000">
                        <a:shade val="67500"/>
                        <a:satMod val="115000"/>
                      </a:srgbClr>
                    </a:gs>
                    <a:gs pos="100000">
                      <a:srgbClr val="FF0000">
                        <a:shade val="100000"/>
                        <a:satMod val="115000"/>
                      </a:srgbClr>
                    </a:gs>
                  </a:gsLst>
                  <a:lin ang="16200000" scaled="1"/>
                  <a:tileRect/>
                </a:gradFill>
              </a:rPr>
              <a:t>Próximos Passos</a:t>
            </a:r>
          </a:p>
          <a:p>
            <a:pPr marL="342900" indent="-342900" algn="l">
              <a:spcBef>
                <a:spcPts val="0"/>
              </a:spcBef>
              <a:buClr>
                <a:srgbClr val="FF0000"/>
              </a:buClr>
              <a:buFont typeface="Arial" panose="020B0604020202020204" pitchFamily="34" charset="0"/>
              <a:buChar char="•"/>
            </a:pPr>
            <a:endParaRPr lang="pt-BR" b="1" dirty="0">
              <a:ln w="12700" cmpd="sng">
                <a:solidFill>
                  <a:schemeClr val="bg1"/>
                </a:solidFill>
                <a:prstDash val="solid"/>
              </a:ln>
              <a:gradFill flip="none" rotWithShape="1">
                <a:gsLst>
                  <a:gs pos="0">
                    <a:srgbClr val="FF0000">
                      <a:shade val="30000"/>
                      <a:satMod val="115000"/>
                    </a:srgbClr>
                  </a:gs>
                  <a:gs pos="50000">
                    <a:srgbClr val="FF0000">
                      <a:shade val="67500"/>
                      <a:satMod val="115000"/>
                    </a:srgbClr>
                  </a:gs>
                  <a:gs pos="100000">
                    <a:srgbClr val="FF0000">
                      <a:shade val="100000"/>
                      <a:satMod val="115000"/>
                    </a:srgbClr>
                  </a:gs>
                </a:gsLst>
                <a:lin ang="16200000" scaled="1"/>
                <a:tileRect/>
              </a:gradFill>
            </a:endParaRPr>
          </a:p>
          <a:p>
            <a:pPr marL="342900" indent="-342900" algn="l">
              <a:spcBef>
                <a:spcPts val="0"/>
              </a:spcBef>
              <a:buClr>
                <a:srgbClr val="FF0000"/>
              </a:buClr>
              <a:buFont typeface="Arial" panose="020B0604020202020204" pitchFamily="34" charset="0"/>
              <a:buChar char="•"/>
            </a:pPr>
            <a:endParaRPr lang="pt-BR" b="1" dirty="0">
              <a:ln w="12700" cmpd="sng">
                <a:solidFill>
                  <a:schemeClr val="bg1"/>
                </a:solidFill>
                <a:prstDash val="solid"/>
              </a:ln>
              <a:gradFill flip="none" rotWithShape="1">
                <a:gsLst>
                  <a:gs pos="0">
                    <a:srgbClr val="FF0000">
                      <a:shade val="30000"/>
                      <a:satMod val="115000"/>
                    </a:srgbClr>
                  </a:gs>
                  <a:gs pos="50000">
                    <a:srgbClr val="FF0000">
                      <a:shade val="67500"/>
                      <a:satMod val="115000"/>
                    </a:srgbClr>
                  </a:gs>
                  <a:gs pos="100000">
                    <a:srgbClr val="FF0000">
                      <a:shade val="100000"/>
                      <a:satMod val="115000"/>
                    </a:srgbClr>
                  </a:gs>
                </a:gsLst>
                <a:lin ang="16200000" scaled="1"/>
                <a:tileRect/>
              </a:gradFill>
            </a:endParaRPr>
          </a:p>
        </p:txBody>
      </p:sp>
      <p:sp>
        <p:nvSpPr>
          <p:cNvPr id="99" name="Google Shape;99;p14"/>
          <p:cNvSpPr txBox="1">
            <a:spLocks noGrp="1"/>
          </p:cNvSpPr>
          <p:nvPr>
            <p:ph type="title"/>
          </p:nvPr>
        </p:nvSpPr>
        <p:spPr>
          <a:xfrm>
            <a:off x="838200" y="525371"/>
            <a:ext cx="10515600" cy="7870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>
              <a:buSzPts val="2400"/>
              <a:buFont typeface="Arial"/>
            </a:pPr>
            <a:r>
              <a:rPr lang="pt-BR" b="1" dirty="0">
                <a:ln>
                  <a:solidFill>
                    <a:schemeClr val="bg1"/>
                  </a:solidFill>
                </a:ln>
                <a:gradFill flip="none" rotWithShape="1">
                  <a:gsLst>
                    <a:gs pos="0">
                      <a:srgbClr val="FF0000">
                        <a:shade val="30000"/>
                        <a:satMod val="115000"/>
                      </a:srgbClr>
                    </a:gs>
                    <a:gs pos="50000">
                      <a:srgbClr val="FF0000">
                        <a:shade val="67500"/>
                        <a:satMod val="115000"/>
                      </a:srgbClr>
                    </a:gs>
                    <a:gs pos="100000">
                      <a:srgbClr val="FF0000">
                        <a:shade val="100000"/>
                        <a:satMod val="115000"/>
                      </a:srgbClr>
                    </a:gs>
                  </a:gsLst>
                  <a:lin ang="16200000" scaled="1"/>
                  <a:tileRect/>
                </a:gradFill>
                <a:sym typeface="Arial"/>
              </a:rPr>
              <a:t>Agenda</a:t>
            </a:r>
            <a:endParaRPr b="1" dirty="0">
              <a:ln>
                <a:solidFill>
                  <a:schemeClr val="bg1"/>
                </a:solidFill>
              </a:ln>
              <a:gradFill flip="none" rotWithShape="1">
                <a:gsLst>
                  <a:gs pos="0">
                    <a:srgbClr val="FF0000">
                      <a:shade val="30000"/>
                      <a:satMod val="115000"/>
                    </a:srgbClr>
                  </a:gs>
                  <a:gs pos="50000">
                    <a:srgbClr val="FF0000">
                      <a:shade val="67500"/>
                      <a:satMod val="115000"/>
                    </a:srgbClr>
                  </a:gs>
                  <a:gs pos="100000">
                    <a:srgbClr val="FF0000">
                      <a:shade val="100000"/>
                      <a:satMod val="115000"/>
                    </a:srgbClr>
                  </a:gs>
                </a:gsLst>
                <a:lin ang="16200000" scaled="1"/>
                <a:tileRect/>
              </a:gradFill>
              <a:sym typeface="Arial"/>
            </a:endParaRPr>
          </a:p>
        </p:txBody>
      </p:sp>
      <p:pic>
        <p:nvPicPr>
          <p:cNvPr id="4" name="Picture 6" descr="https://bkpsitecpsnew.blob.core.windows.net/uploadsitecps/sites/1/2012/05/Logo-Fatec-1200x800-1.jpg">
            <a:extLst>
              <a:ext uri="{FF2B5EF4-FFF2-40B4-BE49-F238E27FC236}">
                <a16:creationId xmlns:a16="http://schemas.microsoft.com/office/drawing/2014/main" id="{D108BC2C-C337-4E40-AA91-CA2A272D2C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62744" y="-237552"/>
            <a:ext cx="2324912" cy="1549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8" descr="https://www.lista11.com.br/adm/fotos/estabelecimentos/3455/premium-chopp-distribuidora-de-bebidas-aluguel-de-maquina-de-chopp-em-caieiras-delivery-de-bebidas-cerveja-artesanal-em-franco-da-rocha-centro_3455_11619_170801538065ce3f1445c2e.jpeg">
            <a:extLst>
              <a:ext uri="{FF2B5EF4-FFF2-40B4-BE49-F238E27FC236}">
                <a16:creationId xmlns:a16="http://schemas.microsoft.com/office/drawing/2014/main" id="{CA8DB991-8025-4F8D-B669-A9ECB2A129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CD734625-5F5C-42E5-9CC6-47887DA2096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8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4" name="Picture 6" descr="https://bkpsitecpsnew.blob.core.windows.net/uploadsitecps/sites/1/2012/05/Logo-Fatec-1200x800-1.jpg">
            <a:extLst>
              <a:ext uri="{FF2B5EF4-FFF2-40B4-BE49-F238E27FC236}">
                <a16:creationId xmlns:a16="http://schemas.microsoft.com/office/drawing/2014/main" id="{D108BC2C-C337-4E40-AA91-CA2A272D2C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62744" y="-237552"/>
            <a:ext cx="2324912" cy="1549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Google Shape;99;p14">
            <a:extLst>
              <a:ext uri="{FF2B5EF4-FFF2-40B4-BE49-F238E27FC236}">
                <a16:creationId xmlns:a16="http://schemas.microsoft.com/office/drawing/2014/main" id="{7E4025E5-A6C5-4B71-B5DA-86CAA685A210}"/>
              </a:ext>
            </a:extLst>
          </p:cNvPr>
          <p:cNvSpPr txBox="1">
            <a:spLocks/>
          </p:cNvSpPr>
          <p:nvPr/>
        </p:nvSpPr>
        <p:spPr>
          <a:xfrm>
            <a:off x="838200" y="525371"/>
            <a:ext cx="10515600" cy="7870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2400"/>
              <a:buFont typeface="Arial"/>
              <a:buNone/>
            </a:pPr>
            <a:r>
              <a:rPr lang="pt-BR" b="1" dirty="0">
                <a:ln>
                  <a:solidFill>
                    <a:schemeClr val="bg1"/>
                  </a:solidFill>
                </a:ln>
                <a:gradFill flip="none" rotWithShape="1">
                  <a:gsLst>
                    <a:gs pos="0">
                      <a:srgbClr val="FF0000">
                        <a:shade val="30000"/>
                        <a:satMod val="115000"/>
                      </a:srgbClr>
                    </a:gs>
                    <a:gs pos="50000">
                      <a:srgbClr val="FF0000">
                        <a:shade val="67500"/>
                        <a:satMod val="115000"/>
                      </a:srgbClr>
                    </a:gs>
                    <a:gs pos="100000">
                      <a:srgbClr val="FF0000">
                        <a:shade val="100000"/>
                        <a:satMod val="115000"/>
                      </a:srgbClr>
                    </a:gs>
                  </a:gsLst>
                  <a:lin ang="16200000" scaled="1"/>
                  <a:tileRect/>
                </a:gradFill>
                <a:sym typeface="Arial"/>
              </a:rPr>
              <a:t>Resumo do Problema</a:t>
            </a:r>
          </a:p>
        </p:txBody>
      </p:sp>
      <p:sp>
        <p:nvSpPr>
          <p:cNvPr id="11" name="Google Shape;94;p13">
            <a:extLst>
              <a:ext uri="{FF2B5EF4-FFF2-40B4-BE49-F238E27FC236}">
                <a16:creationId xmlns:a16="http://schemas.microsoft.com/office/drawing/2014/main" id="{9F8D0535-02EE-4B3E-AF7F-B8D77671299B}"/>
              </a:ext>
            </a:extLst>
          </p:cNvPr>
          <p:cNvSpPr txBox="1">
            <a:spLocks/>
          </p:cNvSpPr>
          <p:nvPr/>
        </p:nvSpPr>
        <p:spPr>
          <a:xfrm>
            <a:off x="308113" y="1390755"/>
            <a:ext cx="6437575" cy="524363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spcBef>
                <a:spcPts val="0"/>
              </a:spcBef>
              <a:buClr>
                <a:srgbClr val="FF0000"/>
              </a:buClr>
            </a:pPr>
            <a:r>
              <a:rPr lang="pt-BR" sz="3200" b="1" dirty="0">
                <a:ln w="12700" cmpd="sng">
                  <a:noFill/>
                  <a:prstDash val="solid"/>
                </a:ln>
                <a:gradFill flip="none" rotWithShape="1">
                  <a:gsLst>
                    <a:gs pos="0">
                      <a:srgbClr val="FF0000">
                        <a:shade val="30000"/>
                        <a:satMod val="115000"/>
                      </a:srgbClr>
                    </a:gs>
                    <a:gs pos="50000">
                      <a:srgbClr val="FF0000">
                        <a:shade val="67500"/>
                        <a:satMod val="115000"/>
                      </a:srgbClr>
                    </a:gs>
                    <a:gs pos="100000">
                      <a:srgbClr val="FF0000">
                        <a:shade val="100000"/>
                        <a:satMod val="115000"/>
                      </a:srgbClr>
                    </a:gs>
                  </a:gsLst>
                  <a:lin ang="16200000" scaled="1"/>
                  <a:tileRect/>
                </a:gradFill>
              </a:rPr>
              <a:t>Chopp e </a:t>
            </a:r>
            <a:r>
              <a:rPr lang="pt-BR" sz="3200" b="1" dirty="0" err="1">
                <a:ln w="12700" cmpd="sng">
                  <a:noFill/>
                  <a:prstDash val="solid"/>
                </a:ln>
                <a:gradFill flip="none" rotWithShape="1">
                  <a:gsLst>
                    <a:gs pos="0">
                      <a:srgbClr val="FF0000">
                        <a:shade val="30000"/>
                        <a:satMod val="115000"/>
                      </a:srgbClr>
                    </a:gs>
                    <a:gs pos="50000">
                      <a:srgbClr val="FF0000">
                        <a:shade val="67500"/>
                        <a:satMod val="115000"/>
                      </a:srgbClr>
                    </a:gs>
                    <a:gs pos="100000">
                      <a:srgbClr val="FF0000">
                        <a:shade val="100000"/>
                        <a:satMod val="115000"/>
                      </a:srgbClr>
                    </a:gs>
                  </a:gsLst>
                  <a:lin ang="16200000" scaled="1"/>
                  <a:tileRect/>
                </a:gradFill>
              </a:rPr>
              <a:t>Cia</a:t>
            </a:r>
            <a:r>
              <a:rPr lang="pt-BR" sz="3200" b="1" baseline="30000" dirty="0" err="1">
                <a:ln w="12700" cmpd="sng">
                  <a:noFill/>
                  <a:prstDash val="solid"/>
                </a:ln>
                <a:gradFill flip="none" rotWithShape="1">
                  <a:gsLst>
                    <a:gs pos="0">
                      <a:srgbClr val="FF0000">
                        <a:shade val="30000"/>
                        <a:satMod val="115000"/>
                      </a:srgbClr>
                    </a:gs>
                    <a:gs pos="50000">
                      <a:srgbClr val="FF0000">
                        <a:shade val="67500"/>
                        <a:satMod val="115000"/>
                      </a:srgbClr>
                    </a:gs>
                    <a:gs pos="100000">
                      <a:srgbClr val="FF0000">
                        <a:shade val="100000"/>
                        <a:satMod val="115000"/>
                      </a:srgbClr>
                    </a:gs>
                  </a:gsLst>
                  <a:lin ang="16200000" scaled="1"/>
                  <a:tileRect/>
                </a:gradFill>
              </a:rPr>
              <a:t>TM</a:t>
            </a:r>
            <a:endParaRPr lang="pt-BR" sz="3200" b="1" dirty="0">
              <a:ln w="12700" cmpd="sng">
                <a:noFill/>
                <a:prstDash val="solid"/>
              </a:ln>
              <a:gradFill flip="none" rotWithShape="1">
                <a:gsLst>
                  <a:gs pos="0">
                    <a:srgbClr val="FF0000">
                      <a:shade val="30000"/>
                      <a:satMod val="115000"/>
                    </a:srgbClr>
                  </a:gs>
                  <a:gs pos="50000">
                    <a:srgbClr val="FF0000">
                      <a:shade val="67500"/>
                      <a:satMod val="115000"/>
                    </a:srgbClr>
                  </a:gs>
                  <a:gs pos="100000">
                    <a:srgbClr val="FF0000">
                      <a:shade val="100000"/>
                      <a:satMod val="115000"/>
                    </a:srgbClr>
                  </a:gs>
                </a:gsLst>
                <a:lin ang="16200000" scaled="1"/>
                <a:tileRect/>
              </a:gradFill>
            </a:endParaRPr>
          </a:p>
          <a:p>
            <a:pPr marL="457200" lvl="1" indent="0" algn="l">
              <a:spcBef>
                <a:spcPts val="0"/>
              </a:spcBef>
              <a:buClr>
                <a:srgbClr val="FF0000"/>
              </a:buClr>
            </a:pPr>
            <a:br>
              <a:rPr lang="pt-BR" dirty="0">
                <a:ln w="12700" cmpd="sng">
                  <a:noFill/>
                  <a:prstDash val="solid"/>
                </a:ln>
                <a:gradFill flip="none" rotWithShape="1">
                  <a:gsLst>
                    <a:gs pos="0">
                      <a:srgbClr val="FF0000">
                        <a:shade val="30000"/>
                        <a:satMod val="115000"/>
                      </a:srgbClr>
                    </a:gs>
                    <a:gs pos="50000">
                      <a:srgbClr val="FF0000">
                        <a:shade val="67500"/>
                        <a:satMod val="115000"/>
                      </a:srgbClr>
                    </a:gs>
                    <a:gs pos="100000">
                      <a:srgbClr val="FF0000">
                        <a:shade val="100000"/>
                        <a:satMod val="115000"/>
                      </a:srgbClr>
                    </a:gs>
                  </a:gsLst>
                  <a:lin ang="16200000" scaled="1"/>
                  <a:tileRect/>
                </a:gradFill>
              </a:rPr>
            </a:br>
            <a:r>
              <a:rPr lang="pt-BR" dirty="0">
                <a:ln w="12700" cmpd="sng">
                  <a:noFill/>
                  <a:prstDash val="solid"/>
                </a:ln>
                <a:gradFill flip="none" rotWithShape="1">
                  <a:gsLst>
                    <a:gs pos="0">
                      <a:srgbClr val="FF0000">
                        <a:shade val="30000"/>
                        <a:satMod val="115000"/>
                      </a:srgbClr>
                    </a:gs>
                    <a:gs pos="50000">
                      <a:srgbClr val="FF0000">
                        <a:shade val="67500"/>
                        <a:satMod val="115000"/>
                      </a:srgbClr>
                    </a:gs>
                    <a:gs pos="100000">
                      <a:srgbClr val="FF0000">
                        <a:shade val="100000"/>
                        <a:satMod val="115000"/>
                      </a:srgbClr>
                    </a:gs>
                  </a:gsLst>
                  <a:lin ang="16200000" scaled="1"/>
                  <a:tileRect/>
                </a:gradFill>
              </a:rPr>
              <a:t>	A distribuidora de </a:t>
            </a:r>
            <a:r>
              <a:rPr lang="pt-BR" dirty="0" err="1">
                <a:ln w="12700" cmpd="sng">
                  <a:noFill/>
                  <a:prstDash val="solid"/>
                </a:ln>
                <a:gradFill flip="none" rotWithShape="1">
                  <a:gsLst>
                    <a:gs pos="0">
                      <a:srgbClr val="FF0000">
                        <a:shade val="30000"/>
                        <a:satMod val="115000"/>
                      </a:srgbClr>
                    </a:gs>
                    <a:gs pos="50000">
                      <a:srgbClr val="FF0000">
                        <a:shade val="67500"/>
                        <a:satMod val="115000"/>
                      </a:srgbClr>
                    </a:gs>
                    <a:gs pos="100000">
                      <a:srgbClr val="FF0000">
                        <a:shade val="100000"/>
                        <a:satMod val="115000"/>
                      </a:srgbClr>
                    </a:gs>
                  </a:gsLst>
                  <a:lin ang="16200000" scaled="1"/>
                  <a:tileRect/>
                </a:gradFill>
              </a:rPr>
              <a:t>chopp</a:t>
            </a:r>
            <a:r>
              <a:rPr lang="pt-BR" dirty="0">
                <a:ln w="12700" cmpd="sng">
                  <a:noFill/>
                  <a:prstDash val="solid"/>
                </a:ln>
                <a:gradFill flip="none" rotWithShape="1">
                  <a:gsLst>
                    <a:gs pos="0">
                      <a:srgbClr val="FF0000">
                        <a:shade val="30000"/>
                        <a:satMod val="115000"/>
                      </a:srgbClr>
                    </a:gs>
                    <a:gs pos="50000">
                      <a:srgbClr val="FF0000">
                        <a:shade val="67500"/>
                        <a:satMod val="115000"/>
                      </a:srgbClr>
                    </a:gs>
                    <a:gs pos="100000">
                      <a:srgbClr val="FF0000">
                        <a:shade val="100000"/>
                        <a:satMod val="115000"/>
                      </a:srgbClr>
                    </a:gs>
                  </a:gsLst>
                  <a:lin ang="16200000" scaled="1"/>
                  <a:tileRect/>
                </a:gradFill>
              </a:rPr>
              <a:t> está localizada na cidade de Ponta Porã, Mato Grosso do Sul, na fronteira com Pedro Juan Caballero, Paraguai.</a:t>
            </a:r>
          </a:p>
          <a:p>
            <a:pPr marL="457200" lvl="1" indent="0" algn="l">
              <a:spcBef>
                <a:spcPts val="0"/>
              </a:spcBef>
              <a:buClr>
                <a:srgbClr val="FF0000"/>
              </a:buClr>
            </a:pPr>
            <a:endParaRPr lang="pt-BR" dirty="0">
              <a:ln w="12700" cmpd="sng">
                <a:noFill/>
                <a:prstDash val="solid"/>
              </a:ln>
              <a:gradFill flip="none" rotWithShape="1">
                <a:gsLst>
                  <a:gs pos="0">
                    <a:srgbClr val="FF0000">
                      <a:shade val="30000"/>
                      <a:satMod val="115000"/>
                    </a:srgbClr>
                  </a:gs>
                  <a:gs pos="50000">
                    <a:srgbClr val="FF0000">
                      <a:shade val="67500"/>
                      <a:satMod val="115000"/>
                    </a:srgbClr>
                  </a:gs>
                  <a:gs pos="100000">
                    <a:srgbClr val="FF0000">
                      <a:shade val="100000"/>
                      <a:satMod val="115000"/>
                    </a:srgbClr>
                  </a:gs>
                </a:gsLst>
                <a:lin ang="16200000" scaled="1"/>
                <a:tileRect/>
              </a:gradFill>
            </a:endParaRPr>
          </a:p>
          <a:p>
            <a:pPr marL="457200" lvl="1" indent="0" algn="l">
              <a:spcBef>
                <a:spcPts val="0"/>
              </a:spcBef>
              <a:buClr>
                <a:srgbClr val="FF0000"/>
              </a:buClr>
            </a:pPr>
            <a:r>
              <a:rPr lang="pt-BR" dirty="0">
                <a:ln w="12700" cmpd="sng">
                  <a:noFill/>
                  <a:prstDash val="solid"/>
                </a:ln>
                <a:gradFill flip="none" rotWithShape="1">
                  <a:gsLst>
                    <a:gs pos="0">
                      <a:srgbClr val="FF0000">
                        <a:shade val="30000"/>
                        <a:satMod val="115000"/>
                      </a:srgbClr>
                    </a:gs>
                    <a:gs pos="50000">
                      <a:srgbClr val="FF0000">
                        <a:shade val="67500"/>
                        <a:satMod val="115000"/>
                      </a:srgbClr>
                    </a:gs>
                    <a:gs pos="100000">
                      <a:srgbClr val="FF0000">
                        <a:shade val="100000"/>
                        <a:satMod val="115000"/>
                      </a:srgbClr>
                    </a:gs>
                  </a:gsLst>
                  <a:lin ang="16200000" scaled="1"/>
                  <a:tileRect/>
                </a:gradFill>
              </a:rPr>
              <a:t>	A empresa solicita que seus dados históricos de vendas e de manejo de estoque sejam analisados pelo grupo de alunos do Projeto Integrador V, do curso de Ciência de Dados para Negócios da Fatec Votorantim. </a:t>
            </a:r>
          </a:p>
          <a:p>
            <a:pPr marL="457200" lvl="1" indent="0" algn="l">
              <a:spcBef>
                <a:spcPts val="0"/>
              </a:spcBef>
              <a:buClr>
                <a:srgbClr val="FF0000"/>
              </a:buClr>
            </a:pPr>
            <a:endParaRPr lang="pt-BR" dirty="0">
              <a:ln w="12700" cmpd="sng">
                <a:noFill/>
                <a:prstDash val="solid"/>
              </a:ln>
              <a:gradFill flip="none" rotWithShape="1">
                <a:gsLst>
                  <a:gs pos="0">
                    <a:srgbClr val="FF0000">
                      <a:shade val="30000"/>
                      <a:satMod val="115000"/>
                    </a:srgbClr>
                  </a:gs>
                  <a:gs pos="50000">
                    <a:srgbClr val="FF0000">
                      <a:shade val="67500"/>
                      <a:satMod val="115000"/>
                    </a:srgbClr>
                  </a:gs>
                  <a:gs pos="100000">
                    <a:srgbClr val="FF0000">
                      <a:shade val="100000"/>
                      <a:satMod val="115000"/>
                    </a:srgbClr>
                  </a:gs>
                </a:gsLst>
                <a:lin ang="16200000" scaled="1"/>
                <a:tileRect/>
              </a:gradFill>
            </a:endParaRPr>
          </a:p>
          <a:p>
            <a:pPr marL="457200" lvl="1" indent="0" algn="l">
              <a:spcBef>
                <a:spcPts val="0"/>
              </a:spcBef>
              <a:buClr>
                <a:srgbClr val="FF0000"/>
              </a:buClr>
            </a:pPr>
            <a:r>
              <a:rPr lang="pt-BR" dirty="0">
                <a:ln w="12700" cmpd="sng">
                  <a:noFill/>
                  <a:prstDash val="solid"/>
                </a:ln>
                <a:gradFill flip="none" rotWithShape="1">
                  <a:gsLst>
                    <a:gs pos="0">
                      <a:srgbClr val="FF0000">
                        <a:shade val="30000"/>
                        <a:satMod val="115000"/>
                      </a:srgbClr>
                    </a:gs>
                    <a:gs pos="50000">
                      <a:srgbClr val="FF0000">
                        <a:shade val="67500"/>
                        <a:satMod val="115000"/>
                      </a:srgbClr>
                    </a:gs>
                    <a:gs pos="100000">
                      <a:srgbClr val="FF0000">
                        <a:shade val="100000"/>
                        <a:satMod val="115000"/>
                      </a:srgbClr>
                    </a:gs>
                  </a:gsLst>
                  <a:lin ang="16200000" scaled="1"/>
                  <a:tileRect/>
                </a:gradFill>
              </a:rPr>
              <a:t>	O objetivo é obter insights que possam apoiar a melhoria de seus processos operacionais, comerciais e de planejamento, contribuindo para o aprimoramento do desempenho geral do negócio.</a:t>
            </a:r>
            <a:endParaRPr lang="pt-BR" b="1" dirty="0">
              <a:ln w="12700" cmpd="sng">
                <a:noFill/>
                <a:prstDash val="solid"/>
              </a:ln>
              <a:gradFill flip="none" rotWithShape="1">
                <a:gsLst>
                  <a:gs pos="0">
                    <a:srgbClr val="FF0000">
                      <a:shade val="30000"/>
                      <a:satMod val="115000"/>
                    </a:srgbClr>
                  </a:gs>
                  <a:gs pos="50000">
                    <a:srgbClr val="FF0000">
                      <a:shade val="67500"/>
                      <a:satMod val="115000"/>
                    </a:srgbClr>
                  </a:gs>
                  <a:gs pos="100000">
                    <a:srgbClr val="FF0000">
                      <a:shade val="100000"/>
                      <a:satMod val="115000"/>
                    </a:srgbClr>
                  </a:gs>
                </a:gsLst>
                <a:lin ang="16200000" scaled="1"/>
                <a:tileRect/>
              </a:gradFill>
            </a:endParaRPr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6C0BB3E1-3F40-4E5A-B375-26DC3873DE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7059" y="918880"/>
            <a:ext cx="4036741" cy="571551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8572940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8" descr="https://www.lista11.com.br/adm/fotos/estabelecimentos/3455/premium-chopp-distribuidora-de-bebidas-aluguel-de-maquina-de-chopp-em-caieiras-delivery-de-bebidas-cerveja-artesanal-em-franco-da-rocha-centro_3455_11619_170801538065ce3f1445c2e.jpeg">
            <a:extLst>
              <a:ext uri="{FF2B5EF4-FFF2-40B4-BE49-F238E27FC236}">
                <a16:creationId xmlns:a16="http://schemas.microsoft.com/office/drawing/2014/main" id="{CA8DB991-8025-4F8D-B669-A9ECB2A129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CD734625-5F5C-42E5-9CC6-47887DA2096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8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4" name="Picture 6" descr="https://bkpsitecpsnew.blob.core.windows.net/uploadsitecps/sites/1/2012/05/Logo-Fatec-1200x800-1.jpg">
            <a:extLst>
              <a:ext uri="{FF2B5EF4-FFF2-40B4-BE49-F238E27FC236}">
                <a16:creationId xmlns:a16="http://schemas.microsoft.com/office/drawing/2014/main" id="{D108BC2C-C337-4E40-AA91-CA2A272D2C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62744" y="-237552"/>
            <a:ext cx="2324912" cy="1549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Google Shape;99;p14">
            <a:extLst>
              <a:ext uri="{FF2B5EF4-FFF2-40B4-BE49-F238E27FC236}">
                <a16:creationId xmlns:a16="http://schemas.microsoft.com/office/drawing/2014/main" id="{7E4025E5-A6C5-4B71-B5DA-86CAA685A210}"/>
              </a:ext>
            </a:extLst>
          </p:cNvPr>
          <p:cNvSpPr txBox="1">
            <a:spLocks/>
          </p:cNvSpPr>
          <p:nvPr/>
        </p:nvSpPr>
        <p:spPr>
          <a:xfrm>
            <a:off x="838200" y="525371"/>
            <a:ext cx="10515600" cy="7870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2400"/>
              <a:buFont typeface="Arial"/>
              <a:buNone/>
            </a:pPr>
            <a:r>
              <a:rPr lang="pt-BR" b="1" dirty="0">
                <a:ln>
                  <a:solidFill>
                    <a:schemeClr val="bg1"/>
                  </a:solidFill>
                </a:ln>
                <a:gradFill flip="none" rotWithShape="1">
                  <a:gsLst>
                    <a:gs pos="0">
                      <a:srgbClr val="FF0000">
                        <a:shade val="30000"/>
                        <a:satMod val="115000"/>
                      </a:srgbClr>
                    </a:gs>
                    <a:gs pos="50000">
                      <a:srgbClr val="FF0000">
                        <a:shade val="67500"/>
                        <a:satMod val="115000"/>
                      </a:srgbClr>
                    </a:gs>
                    <a:gs pos="100000">
                      <a:srgbClr val="FF0000">
                        <a:shade val="100000"/>
                        <a:satMod val="115000"/>
                      </a:srgbClr>
                    </a:gs>
                  </a:gsLst>
                  <a:lin ang="16200000" scaled="1"/>
                  <a:tileRect/>
                </a:gradFill>
                <a:sym typeface="Arial"/>
              </a:rPr>
              <a:t>Resumo do Problema</a:t>
            </a:r>
          </a:p>
        </p:txBody>
      </p:sp>
      <p:sp>
        <p:nvSpPr>
          <p:cNvPr id="11" name="Google Shape;94;p13">
            <a:extLst>
              <a:ext uri="{FF2B5EF4-FFF2-40B4-BE49-F238E27FC236}">
                <a16:creationId xmlns:a16="http://schemas.microsoft.com/office/drawing/2014/main" id="{9F8D0535-02EE-4B3E-AF7F-B8D77671299B}"/>
              </a:ext>
            </a:extLst>
          </p:cNvPr>
          <p:cNvSpPr txBox="1">
            <a:spLocks/>
          </p:cNvSpPr>
          <p:nvPr/>
        </p:nvSpPr>
        <p:spPr>
          <a:xfrm>
            <a:off x="1257299" y="1735965"/>
            <a:ext cx="10096501" cy="46984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 algn="l">
              <a:spcBef>
                <a:spcPts val="0"/>
              </a:spcBef>
              <a:buClr>
                <a:srgbClr val="FF0000"/>
              </a:buClr>
            </a:pPr>
            <a:r>
              <a:rPr lang="pt-BR" sz="3200" b="1" u="sng" dirty="0">
                <a:ln w="12700" cmpd="sng">
                  <a:noFill/>
                  <a:prstDash val="solid"/>
                </a:ln>
                <a:gradFill flip="none" rotWithShape="1">
                  <a:gsLst>
                    <a:gs pos="0">
                      <a:srgbClr val="FF0000">
                        <a:shade val="30000"/>
                        <a:satMod val="115000"/>
                      </a:srgbClr>
                    </a:gs>
                    <a:gs pos="50000">
                      <a:srgbClr val="FF0000">
                        <a:shade val="67500"/>
                        <a:satMod val="115000"/>
                      </a:srgbClr>
                    </a:gs>
                    <a:gs pos="100000">
                      <a:srgbClr val="FF0000">
                        <a:shade val="100000"/>
                        <a:satMod val="115000"/>
                      </a:srgbClr>
                    </a:gs>
                  </a:gsLst>
                  <a:lin ang="16200000" scaled="1"/>
                  <a:tileRect/>
                </a:gradFill>
              </a:rPr>
              <a:t>Contexto Operacional</a:t>
            </a:r>
          </a:p>
          <a:p>
            <a:pPr marL="342900" indent="-342900" algn="l">
              <a:spcBef>
                <a:spcPts val="0"/>
              </a:spcBef>
              <a:buClr>
                <a:srgbClr val="FF0000"/>
              </a:buClr>
              <a:buFont typeface="Arial" panose="020B0604020202020204" pitchFamily="34" charset="0"/>
              <a:buChar char="•"/>
            </a:pPr>
            <a:endParaRPr lang="pt-BR" sz="3200" b="1" u="sng" dirty="0">
              <a:ln w="12700" cmpd="sng">
                <a:noFill/>
                <a:prstDash val="solid"/>
              </a:ln>
              <a:gradFill flip="none" rotWithShape="1">
                <a:gsLst>
                  <a:gs pos="0">
                    <a:srgbClr val="FF0000">
                      <a:shade val="30000"/>
                      <a:satMod val="115000"/>
                    </a:srgbClr>
                  </a:gs>
                  <a:gs pos="50000">
                    <a:srgbClr val="FF0000">
                      <a:shade val="67500"/>
                      <a:satMod val="115000"/>
                    </a:srgbClr>
                  </a:gs>
                  <a:gs pos="100000">
                    <a:srgbClr val="FF0000">
                      <a:shade val="100000"/>
                      <a:satMod val="115000"/>
                    </a:srgbClr>
                  </a:gs>
                </a:gsLst>
                <a:lin ang="16200000" scaled="1"/>
                <a:tileRect/>
              </a:gradFill>
            </a:endParaRPr>
          </a:p>
          <a:p>
            <a:pPr marL="342900" indent="-342900" algn="l">
              <a:spcBef>
                <a:spcPts val="0"/>
              </a:spcBef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pt-BR" dirty="0">
                <a:ln w="12700" cmpd="sng">
                  <a:noFill/>
                  <a:prstDash val="solid"/>
                </a:ln>
                <a:gradFill flip="none" rotWithShape="1">
                  <a:gsLst>
                    <a:gs pos="0">
                      <a:srgbClr val="FF0000">
                        <a:shade val="30000"/>
                        <a:satMod val="115000"/>
                      </a:srgbClr>
                    </a:gs>
                    <a:gs pos="50000">
                      <a:srgbClr val="FF0000">
                        <a:shade val="67500"/>
                        <a:satMod val="115000"/>
                      </a:srgbClr>
                    </a:gs>
                    <a:gs pos="100000">
                      <a:srgbClr val="FF0000">
                        <a:shade val="100000"/>
                        <a:satMod val="115000"/>
                      </a:srgbClr>
                    </a:gs>
                  </a:gsLst>
                  <a:lin ang="16200000" scaled="1"/>
                  <a:tileRect/>
                </a:gradFill>
              </a:rPr>
              <a:t>Número limitado de </a:t>
            </a:r>
            <a:r>
              <a:rPr lang="pt-BR" dirty="0" err="1">
                <a:ln w="12700" cmpd="sng">
                  <a:noFill/>
                  <a:prstDash val="solid"/>
                </a:ln>
                <a:gradFill flip="none" rotWithShape="1">
                  <a:gsLst>
                    <a:gs pos="0">
                      <a:srgbClr val="FF0000">
                        <a:shade val="30000"/>
                        <a:satMod val="115000"/>
                      </a:srgbClr>
                    </a:gs>
                    <a:gs pos="50000">
                      <a:srgbClr val="FF0000">
                        <a:shade val="67500"/>
                        <a:satMod val="115000"/>
                      </a:srgbClr>
                    </a:gs>
                    <a:gs pos="100000">
                      <a:srgbClr val="FF0000">
                        <a:shade val="100000"/>
                        <a:satMod val="115000"/>
                      </a:srgbClr>
                    </a:gs>
                  </a:gsLst>
                  <a:lin ang="16200000" scaled="1"/>
                  <a:tileRect/>
                </a:gradFill>
              </a:rPr>
              <a:t>choppeiras</a:t>
            </a:r>
            <a:r>
              <a:rPr lang="pt-BR" dirty="0">
                <a:ln w="12700" cmpd="sng">
                  <a:noFill/>
                  <a:prstDash val="solid"/>
                </a:ln>
                <a:gradFill flip="none" rotWithShape="1">
                  <a:gsLst>
                    <a:gs pos="0">
                      <a:srgbClr val="FF0000">
                        <a:shade val="30000"/>
                        <a:satMod val="115000"/>
                      </a:srgbClr>
                    </a:gs>
                    <a:gs pos="50000">
                      <a:srgbClr val="FF0000">
                        <a:shade val="67500"/>
                        <a:satMod val="115000"/>
                      </a:srgbClr>
                    </a:gs>
                    <a:gs pos="100000">
                      <a:srgbClr val="FF0000">
                        <a:shade val="100000"/>
                        <a:satMod val="115000"/>
                      </a:srgbClr>
                    </a:gs>
                  </a:gsLst>
                  <a:lin ang="16200000" scaled="1"/>
                  <a:tileRect/>
                </a:gradFill>
              </a:rPr>
              <a:t>.</a:t>
            </a:r>
          </a:p>
          <a:p>
            <a:pPr marL="342900" indent="-342900" algn="l">
              <a:spcBef>
                <a:spcPts val="0"/>
              </a:spcBef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pt-BR" dirty="0">
                <a:ln w="12700" cmpd="sng">
                  <a:noFill/>
                  <a:prstDash val="solid"/>
                </a:ln>
                <a:gradFill flip="none" rotWithShape="1">
                  <a:gsLst>
                    <a:gs pos="0">
                      <a:srgbClr val="FF0000">
                        <a:shade val="30000"/>
                        <a:satMod val="115000"/>
                      </a:srgbClr>
                    </a:gs>
                    <a:gs pos="50000">
                      <a:srgbClr val="FF0000">
                        <a:shade val="67500"/>
                        <a:satMod val="115000"/>
                      </a:srgbClr>
                    </a:gs>
                    <a:gs pos="100000">
                      <a:srgbClr val="FF0000">
                        <a:shade val="100000"/>
                        <a:satMod val="115000"/>
                      </a:srgbClr>
                    </a:gs>
                  </a:gsLst>
                  <a:lin ang="16200000" scaled="1"/>
                  <a:tileRect/>
                </a:gradFill>
              </a:rPr>
              <a:t>Períodos de alta demanda geram falta de produto.</a:t>
            </a:r>
          </a:p>
          <a:p>
            <a:pPr marL="342900" indent="-342900" algn="l">
              <a:spcBef>
                <a:spcPts val="0"/>
              </a:spcBef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pt-BR" dirty="0">
                <a:ln w="12700" cmpd="sng">
                  <a:noFill/>
                  <a:prstDash val="solid"/>
                </a:ln>
                <a:gradFill flip="none" rotWithShape="1">
                  <a:gsLst>
                    <a:gs pos="0">
                      <a:srgbClr val="FF0000">
                        <a:shade val="30000"/>
                        <a:satMod val="115000"/>
                      </a:srgbClr>
                    </a:gs>
                    <a:gs pos="50000">
                      <a:srgbClr val="FF0000">
                        <a:shade val="67500"/>
                        <a:satMod val="115000"/>
                      </a:srgbClr>
                    </a:gs>
                    <a:gs pos="100000">
                      <a:srgbClr val="FF0000">
                        <a:shade val="100000"/>
                        <a:satMod val="115000"/>
                      </a:srgbClr>
                    </a:gs>
                  </a:gsLst>
                  <a:lin ang="16200000" scaled="1"/>
                  <a:tileRect/>
                </a:gradFill>
              </a:rPr>
              <a:t>Necessidade de priorizar clientes.</a:t>
            </a:r>
          </a:p>
          <a:p>
            <a:pPr marL="0" indent="0" algn="l">
              <a:spcBef>
                <a:spcPts val="0"/>
              </a:spcBef>
              <a:buClr>
                <a:srgbClr val="FF0000"/>
              </a:buClr>
            </a:pPr>
            <a:endParaRPr lang="pt-BR" b="1" dirty="0">
              <a:ln w="12700" cmpd="sng">
                <a:noFill/>
                <a:prstDash val="solid"/>
              </a:ln>
              <a:gradFill flip="none" rotWithShape="1">
                <a:gsLst>
                  <a:gs pos="0">
                    <a:srgbClr val="FF0000">
                      <a:shade val="30000"/>
                      <a:satMod val="115000"/>
                    </a:srgbClr>
                  </a:gs>
                  <a:gs pos="50000">
                    <a:srgbClr val="FF0000">
                      <a:shade val="67500"/>
                      <a:satMod val="115000"/>
                    </a:srgbClr>
                  </a:gs>
                  <a:gs pos="100000">
                    <a:srgbClr val="FF0000">
                      <a:shade val="100000"/>
                      <a:satMod val="115000"/>
                    </a:srgbClr>
                  </a:gs>
                </a:gsLst>
                <a:lin ang="16200000" scaled="1"/>
                <a:tileRect/>
              </a:gradFill>
            </a:endParaRPr>
          </a:p>
          <a:p>
            <a:pPr marL="0" indent="0" algn="l">
              <a:spcBef>
                <a:spcPts val="0"/>
              </a:spcBef>
              <a:buClr>
                <a:srgbClr val="FF0000"/>
              </a:buClr>
            </a:pPr>
            <a:r>
              <a:rPr lang="pt-BR" sz="3200" b="1" u="sng" dirty="0">
                <a:ln w="12700" cmpd="sng">
                  <a:noFill/>
                  <a:prstDash val="solid"/>
                </a:ln>
                <a:gradFill flip="none" rotWithShape="1">
                  <a:gsLst>
                    <a:gs pos="0">
                      <a:srgbClr val="FF0000">
                        <a:shade val="30000"/>
                        <a:satMod val="115000"/>
                      </a:srgbClr>
                    </a:gs>
                    <a:gs pos="50000">
                      <a:srgbClr val="FF0000">
                        <a:shade val="67500"/>
                        <a:satMod val="115000"/>
                      </a:srgbClr>
                    </a:gs>
                    <a:gs pos="100000">
                      <a:srgbClr val="FF0000">
                        <a:shade val="100000"/>
                        <a:satMod val="115000"/>
                      </a:srgbClr>
                    </a:gs>
                  </a:gsLst>
                  <a:lin ang="16200000" scaled="1"/>
                  <a:tileRect/>
                </a:gradFill>
              </a:rPr>
              <a:t>Desafio Logístico</a:t>
            </a:r>
          </a:p>
          <a:p>
            <a:pPr marL="0" indent="0" algn="l">
              <a:spcBef>
                <a:spcPts val="0"/>
              </a:spcBef>
              <a:buClr>
                <a:srgbClr val="FF0000"/>
              </a:buClr>
            </a:pPr>
            <a:endParaRPr lang="pt-BR" b="1" dirty="0">
              <a:ln w="12700" cmpd="sng">
                <a:noFill/>
                <a:prstDash val="solid"/>
              </a:ln>
              <a:gradFill flip="none" rotWithShape="1">
                <a:gsLst>
                  <a:gs pos="0">
                    <a:srgbClr val="FF0000">
                      <a:shade val="30000"/>
                      <a:satMod val="115000"/>
                    </a:srgbClr>
                  </a:gs>
                  <a:gs pos="50000">
                    <a:srgbClr val="FF0000">
                      <a:shade val="67500"/>
                      <a:satMod val="115000"/>
                    </a:srgbClr>
                  </a:gs>
                  <a:gs pos="100000">
                    <a:srgbClr val="FF0000">
                      <a:shade val="100000"/>
                      <a:satMod val="115000"/>
                    </a:srgbClr>
                  </a:gs>
                </a:gsLst>
                <a:lin ang="16200000" scaled="1"/>
                <a:tileRect/>
              </a:gradFill>
            </a:endParaRPr>
          </a:p>
          <a:p>
            <a:pPr marL="342900" indent="-342900" algn="l">
              <a:spcBef>
                <a:spcPts val="0"/>
              </a:spcBef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pt-BR" dirty="0">
                <a:ln w="12700" cmpd="sng">
                  <a:noFill/>
                  <a:prstDash val="solid"/>
                </a:ln>
                <a:gradFill flip="none" rotWithShape="1">
                  <a:gsLst>
                    <a:gs pos="0">
                      <a:srgbClr val="FF0000">
                        <a:shade val="30000"/>
                        <a:satMod val="115000"/>
                      </a:srgbClr>
                    </a:gs>
                    <a:gs pos="50000">
                      <a:srgbClr val="FF0000">
                        <a:shade val="67500"/>
                        <a:satMod val="115000"/>
                      </a:srgbClr>
                    </a:gs>
                    <a:gs pos="100000">
                      <a:srgbClr val="FF0000">
                        <a:shade val="100000"/>
                        <a:satMod val="115000"/>
                      </a:srgbClr>
                    </a:gs>
                  </a:gsLst>
                  <a:lin ang="16200000" scaled="1"/>
                  <a:tileRect/>
                </a:gradFill>
              </a:rPr>
              <a:t>Clientes precisam devolver </a:t>
            </a:r>
            <a:r>
              <a:rPr lang="pt-BR" dirty="0" err="1">
                <a:ln w="12700" cmpd="sng">
                  <a:noFill/>
                  <a:prstDash val="solid"/>
                </a:ln>
                <a:gradFill flip="none" rotWithShape="1">
                  <a:gsLst>
                    <a:gs pos="0">
                      <a:srgbClr val="FF0000">
                        <a:shade val="30000"/>
                        <a:satMod val="115000"/>
                      </a:srgbClr>
                    </a:gs>
                    <a:gs pos="50000">
                      <a:srgbClr val="FF0000">
                        <a:shade val="67500"/>
                        <a:satMod val="115000"/>
                      </a:srgbClr>
                    </a:gs>
                    <a:gs pos="100000">
                      <a:srgbClr val="FF0000">
                        <a:shade val="100000"/>
                        <a:satMod val="115000"/>
                      </a:srgbClr>
                    </a:gs>
                  </a:gsLst>
                  <a:lin ang="16200000" scaled="1"/>
                  <a:tileRect/>
                </a:gradFill>
              </a:rPr>
              <a:t>choppeiras</a:t>
            </a:r>
            <a:r>
              <a:rPr lang="pt-BR" dirty="0">
                <a:ln w="12700" cmpd="sng">
                  <a:noFill/>
                  <a:prstDash val="solid"/>
                </a:ln>
                <a:gradFill flip="none" rotWithShape="1">
                  <a:gsLst>
                    <a:gs pos="0">
                      <a:srgbClr val="FF0000">
                        <a:shade val="30000"/>
                        <a:satMod val="115000"/>
                      </a:srgbClr>
                    </a:gs>
                    <a:gs pos="50000">
                      <a:srgbClr val="FF0000">
                        <a:shade val="67500"/>
                        <a:satMod val="115000"/>
                      </a:srgbClr>
                    </a:gs>
                    <a:gs pos="100000">
                      <a:srgbClr val="FF0000">
                        <a:shade val="100000"/>
                        <a:satMod val="115000"/>
                      </a:srgbClr>
                    </a:gs>
                  </a:gsLst>
                  <a:lin ang="16200000" scaled="1"/>
                  <a:tileRect/>
                </a:gradFill>
              </a:rPr>
              <a:t> rapidamente para garantir disponibilidade a outros pedidos.</a:t>
            </a:r>
          </a:p>
          <a:p>
            <a:pPr marL="0" indent="0" algn="l">
              <a:spcBef>
                <a:spcPts val="0"/>
              </a:spcBef>
              <a:buClr>
                <a:srgbClr val="FF0000"/>
              </a:buClr>
            </a:pPr>
            <a:endParaRPr lang="pt-BR" b="1" dirty="0">
              <a:ln w="12700" cmpd="sng">
                <a:solidFill>
                  <a:schemeClr val="bg1"/>
                </a:solidFill>
                <a:prstDash val="solid"/>
              </a:ln>
              <a:gradFill flip="none" rotWithShape="1">
                <a:gsLst>
                  <a:gs pos="0">
                    <a:srgbClr val="FF0000">
                      <a:shade val="30000"/>
                      <a:satMod val="115000"/>
                    </a:srgbClr>
                  </a:gs>
                  <a:gs pos="50000">
                    <a:srgbClr val="FF0000">
                      <a:shade val="67500"/>
                      <a:satMod val="115000"/>
                    </a:srgbClr>
                  </a:gs>
                  <a:gs pos="100000">
                    <a:srgbClr val="FF0000">
                      <a:shade val="100000"/>
                      <a:satMod val="115000"/>
                    </a:srgbClr>
                  </a:gs>
                </a:gsLst>
                <a:lin ang="16200000" scaled="1"/>
                <a:tileRect/>
              </a:gradFill>
            </a:endParaRPr>
          </a:p>
        </p:txBody>
      </p:sp>
    </p:spTree>
    <p:extLst>
      <p:ext uri="{BB962C8B-B14F-4D97-AF65-F5344CB8AC3E}">
        <p14:creationId xmlns:p14="http://schemas.microsoft.com/office/powerpoint/2010/main" val="38884706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8" descr="https://www.lista11.com.br/adm/fotos/estabelecimentos/3455/premium-chopp-distribuidora-de-bebidas-aluguel-de-maquina-de-chopp-em-caieiras-delivery-de-bebidas-cerveja-artesanal-em-franco-da-rocha-centro_3455_11619_170801538065ce3f1445c2e.jpeg">
            <a:extLst>
              <a:ext uri="{FF2B5EF4-FFF2-40B4-BE49-F238E27FC236}">
                <a16:creationId xmlns:a16="http://schemas.microsoft.com/office/drawing/2014/main" id="{CA8DB991-8025-4F8D-B669-A9ECB2A129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CD734625-5F5C-42E5-9CC6-47887DA2096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8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4" name="Picture 6" descr="https://bkpsitecpsnew.blob.core.windows.net/uploadsitecps/sites/1/2012/05/Logo-Fatec-1200x800-1.jpg">
            <a:extLst>
              <a:ext uri="{FF2B5EF4-FFF2-40B4-BE49-F238E27FC236}">
                <a16:creationId xmlns:a16="http://schemas.microsoft.com/office/drawing/2014/main" id="{D108BC2C-C337-4E40-AA91-CA2A272D2C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62744" y="-237552"/>
            <a:ext cx="2324912" cy="1549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Google Shape;99;p14">
            <a:extLst>
              <a:ext uri="{FF2B5EF4-FFF2-40B4-BE49-F238E27FC236}">
                <a16:creationId xmlns:a16="http://schemas.microsoft.com/office/drawing/2014/main" id="{7E4025E5-A6C5-4B71-B5DA-86CAA685A210}"/>
              </a:ext>
            </a:extLst>
          </p:cNvPr>
          <p:cNvSpPr txBox="1">
            <a:spLocks/>
          </p:cNvSpPr>
          <p:nvPr/>
        </p:nvSpPr>
        <p:spPr>
          <a:xfrm>
            <a:off x="838200" y="525371"/>
            <a:ext cx="10515600" cy="7870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2400"/>
              <a:buFont typeface="Arial"/>
              <a:buNone/>
            </a:pPr>
            <a:r>
              <a:rPr lang="pt-BR" b="1" dirty="0">
                <a:ln>
                  <a:solidFill>
                    <a:schemeClr val="bg1"/>
                  </a:solidFill>
                </a:ln>
                <a:gradFill flip="none" rotWithShape="1">
                  <a:gsLst>
                    <a:gs pos="0">
                      <a:srgbClr val="FF0000">
                        <a:shade val="30000"/>
                        <a:satMod val="115000"/>
                      </a:srgbClr>
                    </a:gs>
                    <a:gs pos="50000">
                      <a:srgbClr val="FF0000">
                        <a:shade val="67500"/>
                        <a:satMod val="115000"/>
                      </a:srgbClr>
                    </a:gs>
                    <a:gs pos="100000">
                      <a:srgbClr val="FF0000">
                        <a:shade val="100000"/>
                        <a:satMod val="115000"/>
                      </a:srgbClr>
                    </a:gs>
                  </a:gsLst>
                  <a:lin ang="16200000" scaled="1"/>
                  <a:tileRect/>
                </a:gradFill>
                <a:sym typeface="Arial"/>
              </a:rPr>
              <a:t>Solução Proposta</a:t>
            </a:r>
          </a:p>
        </p:txBody>
      </p:sp>
      <p:sp>
        <p:nvSpPr>
          <p:cNvPr id="11" name="Google Shape;94;p13">
            <a:extLst>
              <a:ext uri="{FF2B5EF4-FFF2-40B4-BE49-F238E27FC236}">
                <a16:creationId xmlns:a16="http://schemas.microsoft.com/office/drawing/2014/main" id="{9F8D0535-02EE-4B3E-AF7F-B8D77671299B}"/>
              </a:ext>
            </a:extLst>
          </p:cNvPr>
          <p:cNvSpPr txBox="1">
            <a:spLocks/>
          </p:cNvSpPr>
          <p:nvPr/>
        </p:nvSpPr>
        <p:spPr>
          <a:xfrm>
            <a:off x="962023" y="1435641"/>
            <a:ext cx="10096501" cy="46984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 algn="l">
              <a:spcBef>
                <a:spcPts val="0"/>
              </a:spcBef>
              <a:buClr>
                <a:srgbClr val="FF0000"/>
              </a:buClr>
            </a:pPr>
            <a:r>
              <a:rPr lang="pt-BR" b="1" dirty="0">
                <a:ln w="12700" cmpd="sng">
                  <a:noFill/>
                  <a:prstDash val="solid"/>
                </a:ln>
                <a:gradFill flip="none" rotWithShape="1">
                  <a:gsLst>
                    <a:gs pos="0">
                      <a:srgbClr val="FF0000">
                        <a:shade val="30000"/>
                        <a:satMod val="115000"/>
                      </a:srgbClr>
                    </a:gs>
                    <a:gs pos="50000">
                      <a:srgbClr val="FF0000">
                        <a:shade val="67500"/>
                        <a:satMod val="115000"/>
                      </a:srgbClr>
                    </a:gs>
                    <a:gs pos="100000">
                      <a:srgbClr val="FF0000">
                        <a:shade val="100000"/>
                        <a:satMod val="115000"/>
                      </a:srgbClr>
                    </a:gs>
                  </a:gsLst>
                  <a:lin ang="16200000" scaled="1"/>
                  <a:tileRect/>
                </a:gradFill>
              </a:rPr>
              <a:t>Criação de Modelos ML para:</a:t>
            </a:r>
          </a:p>
          <a:p>
            <a:pPr indent="-457200" algn="l">
              <a:spcBef>
                <a:spcPts val="0"/>
              </a:spcBef>
              <a:buClr>
                <a:srgbClr val="FF0000"/>
              </a:buClr>
              <a:buFont typeface="+mj-lt"/>
              <a:buAutoNum type="arabicPeriod"/>
            </a:pPr>
            <a:endParaRPr lang="pt-BR" b="1" dirty="0">
              <a:ln w="12700" cmpd="sng">
                <a:noFill/>
                <a:prstDash val="solid"/>
              </a:ln>
              <a:gradFill flip="none" rotWithShape="1">
                <a:gsLst>
                  <a:gs pos="0">
                    <a:srgbClr val="FF0000">
                      <a:shade val="30000"/>
                      <a:satMod val="115000"/>
                    </a:srgbClr>
                  </a:gs>
                  <a:gs pos="50000">
                    <a:srgbClr val="FF0000">
                      <a:shade val="67500"/>
                      <a:satMod val="115000"/>
                    </a:srgbClr>
                  </a:gs>
                  <a:gs pos="100000">
                    <a:srgbClr val="FF0000">
                      <a:shade val="100000"/>
                      <a:satMod val="115000"/>
                    </a:srgbClr>
                  </a:gs>
                </a:gsLst>
                <a:lin ang="16200000" scaled="1"/>
                <a:tileRect/>
              </a:gradFill>
            </a:endParaRPr>
          </a:p>
          <a:p>
            <a:pPr indent="-457200" algn="l">
              <a:spcBef>
                <a:spcPts val="0"/>
              </a:spcBef>
              <a:buClr>
                <a:srgbClr val="FF0000"/>
              </a:buClr>
              <a:buFont typeface="+mj-lt"/>
              <a:buAutoNum type="arabicPeriod"/>
            </a:pPr>
            <a:r>
              <a:rPr lang="pt-BR" b="1" dirty="0">
                <a:ln w="12700" cmpd="sng">
                  <a:noFill/>
                  <a:prstDash val="solid"/>
                </a:ln>
                <a:gradFill flip="none" rotWithShape="1">
                  <a:gsLst>
                    <a:gs pos="0">
                      <a:srgbClr val="FF0000">
                        <a:shade val="30000"/>
                        <a:satMod val="115000"/>
                      </a:srgbClr>
                    </a:gs>
                    <a:gs pos="50000">
                      <a:srgbClr val="FF0000">
                        <a:shade val="67500"/>
                        <a:satMod val="115000"/>
                      </a:srgbClr>
                    </a:gs>
                    <a:gs pos="100000">
                      <a:srgbClr val="FF0000">
                        <a:shade val="100000"/>
                        <a:satMod val="115000"/>
                      </a:srgbClr>
                    </a:gs>
                  </a:gsLst>
                  <a:lin ang="16200000" scaled="1"/>
                  <a:tileRect/>
                </a:gradFill>
              </a:rPr>
              <a:t>Previsão de vendas: </a:t>
            </a:r>
            <a:br>
              <a:rPr lang="pt-BR" b="1" dirty="0">
                <a:ln w="12700" cmpd="sng">
                  <a:noFill/>
                  <a:prstDash val="solid"/>
                </a:ln>
                <a:gradFill flip="none" rotWithShape="1">
                  <a:gsLst>
                    <a:gs pos="0">
                      <a:srgbClr val="FF0000">
                        <a:shade val="30000"/>
                        <a:satMod val="115000"/>
                      </a:srgbClr>
                    </a:gs>
                    <a:gs pos="50000">
                      <a:srgbClr val="FF0000">
                        <a:shade val="67500"/>
                        <a:satMod val="115000"/>
                      </a:srgbClr>
                    </a:gs>
                    <a:gs pos="100000">
                      <a:srgbClr val="FF0000">
                        <a:shade val="100000"/>
                        <a:satMod val="115000"/>
                      </a:srgbClr>
                    </a:gs>
                  </a:gsLst>
                  <a:lin ang="16200000" scaled="1"/>
                  <a:tileRect/>
                </a:gradFill>
              </a:rPr>
            </a:br>
            <a:r>
              <a:rPr lang="pt-BR" dirty="0">
                <a:ln w="12700" cmpd="sng">
                  <a:noFill/>
                  <a:prstDash val="solid"/>
                </a:ln>
                <a:gradFill flip="none" rotWithShape="1">
                  <a:gsLst>
                    <a:gs pos="0">
                      <a:srgbClr val="FF0000">
                        <a:shade val="30000"/>
                        <a:satMod val="115000"/>
                      </a:srgbClr>
                    </a:gs>
                    <a:gs pos="50000">
                      <a:srgbClr val="FF0000">
                        <a:shade val="67500"/>
                        <a:satMod val="115000"/>
                      </a:srgbClr>
                    </a:gs>
                    <a:gs pos="100000">
                      <a:srgbClr val="FF0000">
                        <a:shade val="100000"/>
                        <a:satMod val="115000"/>
                      </a:srgbClr>
                    </a:gs>
                  </a:gsLst>
                  <a:lin ang="16200000" scaled="1"/>
                  <a:tileRect/>
                </a:gradFill>
              </a:rPr>
              <a:t>Necessidade de analisar sazonalidade e projetar demanda futura para otimizar planejamento.</a:t>
            </a:r>
          </a:p>
          <a:p>
            <a:pPr indent="-457200" algn="l">
              <a:spcBef>
                <a:spcPts val="0"/>
              </a:spcBef>
              <a:buClr>
                <a:srgbClr val="FF0000"/>
              </a:buClr>
              <a:buFont typeface="+mj-lt"/>
              <a:buAutoNum type="arabicPeriod"/>
            </a:pPr>
            <a:endParaRPr lang="pt-BR" b="1" dirty="0">
              <a:ln w="12700" cmpd="sng">
                <a:noFill/>
                <a:prstDash val="solid"/>
              </a:ln>
              <a:gradFill flip="none" rotWithShape="1">
                <a:gsLst>
                  <a:gs pos="0">
                    <a:srgbClr val="FF0000">
                      <a:shade val="30000"/>
                      <a:satMod val="115000"/>
                    </a:srgbClr>
                  </a:gs>
                  <a:gs pos="50000">
                    <a:srgbClr val="FF0000">
                      <a:shade val="67500"/>
                      <a:satMod val="115000"/>
                    </a:srgbClr>
                  </a:gs>
                  <a:gs pos="100000">
                    <a:srgbClr val="FF0000">
                      <a:shade val="100000"/>
                      <a:satMod val="115000"/>
                    </a:srgbClr>
                  </a:gs>
                </a:gsLst>
                <a:lin ang="16200000" scaled="1"/>
                <a:tileRect/>
              </a:gradFill>
            </a:endParaRPr>
          </a:p>
          <a:p>
            <a:pPr indent="-457200" algn="l">
              <a:spcBef>
                <a:spcPts val="0"/>
              </a:spcBef>
              <a:buClr>
                <a:srgbClr val="FF0000"/>
              </a:buClr>
              <a:buFont typeface="+mj-lt"/>
              <a:buAutoNum type="arabicPeriod"/>
            </a:pPr>
            <a:r>
              <a:rPr lang="pt-BR" b="1" dirty="0">
                <a:ln w="12700" cmpd="sng">
                  <a:noFill/>
                  <a:prstDash val="solid"/>
                </a:ln>
                <a:gradFill flip="none" rotWithShape="1">
                  <a:gsLst>
                    <a:gs pos="0">
                      <a:srgbClr val="FF0000">
                        <a:shade val="30000"/>
                        <a:satMod val="115000"/>
                      </a:srgbClr>
                    </a:gs>
                    <a:gs pos="50000">
                      <a:srgbClr val="FF0000">
                        <a:shade val="67500"/>
                        <a:satMod val="115000"/>
                      </a:srgbClr>
                    </a:gs>
                    <a:gs pos="100000">
                      <a:srgbClr val="FF0000">
                        <a:shade val="100000"/>
                        <a:satMod val="115000"/>
                      </a:srgbClr>
                    </a:gs>
                  </a:gsLst>
                  <a:lin ang="16200000" scaled="1"/>
                  <a:tileRect/>
                </a:gradFill>
              </a:rPr>
              <a:t>Predição de estoque: </a:t>
            </a:r>
            <a:br>
              <a:rPr lang="pt-BR" b="1" dirty="0">
                <a:ln w="12700" cmpd="sng">
                  <a:noFill/>
                  <a:prstDash val="solid"/>
                </a:ln>
                <a:gradFill flip="none" rotWithShape="1">
                  <a:gsLst>
                    <a:gs pos="0">
                      <a:srgbClr val="FF0000">
                        <a:shade val="30000"/>
                        <a:satMod val="115000"/>
                      </a:srgbClr>
                    </a:gs>
                    <a:gs pos="50000">
                      <a:srgbClr val="FF0000">
                        <a:shade val="67500"/>
                        <a:satMod val="115000"/>
                      </a:srgbClr>
                    </a:gs>
                    <a:gs pos="100000">
                      <a:srgbClr val="FF0000">
                        <a:shade val="100000"/>
                        <a:satMod val="115000"/>
                      </a:srgbClr>
                    </a:gs>
                  </a:gsLst>
                  <a:lin ang="16200000" scaled="1"/>
                  <a:tileRect/>
                </a:gradFill>
              </a:rPr>
            </a:br>
            <a:r>
              <a:rPr lang="pt-BR" dirty="0">
                <a:ln w="12700" cmpd="sng">
                  <a:noFill/>
                  <a:prstDash val="solid"/>
                </a:ln>
                <a:gradFill flip="none" rotWithShape="1">
                  <a:gsLst>
                    <a:gs pos="0">
                      <a:srgbClr val="FF0000">
                        <a:shade val="30000"/>
                        <a:satMod val="115000"/>
                      </a:srgbClr>
                    </a:gs>
                    <a:gs pos="50000">
                      <a:srgbClr val="FF0000">
                        <a:shade val="67500"/>
                        <a:satMod val="115000"/>
                      </a:srgbClr>
                    </a:gs>
                    <a:gs pos="100000">
                      <a:srgbClr val="FF0000">
                        <a:shade val="100000"/>
                        <a:satMod val="115000"/>
                      </a:srgbClr>
                    </a:gs>
                  </a:gsLst>
                  <a:lin ang="16200000" scaled="1"/>
                  <a:tileRect/>
                </a:gradFill>
              </a:rPr>
              <a:t>Necessidade de estimar níveis ideais de estoque para evitar faltas ou excessos.</a:t>
            </a:r>
          </a:p>
          <a:p>
            <a:pPr indent="-457200" algn="l">
              <a:spcBef>
                <a:spcPts val="0"/>
              </a:spcBef>
              <a:buClr>
                <a:srgbClr val="FF0000"/>
              </a:buClr>
              <a:buFont typeface="+mj-lt"/>
              <a:buAutoNum type="arabicPeriod"/>
            </a:pPr>
            <a:endParaRPr lang="pt-BR" dirty="0">
              <a:ln w="12700" cmpd="sng">
                <a:noFill/>
                <a:prstDash val="solid"/>
              </a:ln>
              <a:gradFill flip="none" rotWithShape="1">
                <a:gsLst>
                  <a:gs pos="0">
                    <a:srgbClr val="FF0000">
                      <a:shade val="30000"/>
                      <a:satMod val="115000"/>
                    </a:srgbClr>
                  </a:gs>
                  <a:gs pos="50000">
                    <a:srgbClr val="FF0000">
                      <a:shade val="67500"/>
                      <a:satMod val="115000"/>
                    </a:srgbClr>
                  </a:gs>
                  <a:gs pos="100000">
                    <a:srgbClr val="FF0000">
                      <a:shade val="100000"/>
                      <a:satMod val="115000"/>
                    </a:srgbClr>
                  </a:gs>
                </a:gsLst>
                <a:lin ang="16200000" scaled="1"/>
                <a:tileRect/>
              </a:gradFill>
            </a:endParaRPr>
          </a:p>
          <a:p>
            <a:pPr indent="-457200" algn="l">
              <a:spcBef>
                <a:spcPts val="0"/>
              </a:spcBef>
              <a:buClr>
                <a:srgbClr val="FF0000"/>
              </a:buClr>
              <a:buFont typeface="+mj-lt"/>
              <a:buAutoNum type="arabicPeriod"/>
            </a:pPr>
            <a:r>
              <a:rPr lang="pt-BR" b="1" dirty="0">
                <a:ln w="12700" cmpd="sng">
                  <a:noFill/>
                  <a:prstDash val="solid"/>
                </a:ln>
                <a:gradFill flip="none" rotWithShape="1">
                  <a:gsLst>
                    <a:gs pos="0">
                      <a:srgbClr val="FF0000">
                        <a:shade val="30000"/>
                        <a:satMod val="115000"/>
                      </a:srgbClr>
                    </a:gs>
                    <a:gs pos="50000">
                      <a:srgbClr val="FF0000">
                        <a:shade val="67500"/>
                        <a:satMod val="115000"/>
                      </a:srgbClr>
                    </a:gs>
                    <a:gs pos="100000">
                      <a:srgbClr val="FF0000">
                        <a:shade val="100000"/>
                        <a:satMod val="115000"/>
                      </a:srgbClr>
                    </a:gs>
                  </a:gsLst>
                  <a:lin ang="16200000" scaled="1"/>
                  <a:tileRect/>
                </a:gradFill>
              </a:rPr>
              <a:t>Classificação de clientes: </a:t>
            </a:r>
            <a:br>
              <a:rPr lang="pt-BR" b="1" dirty="0">
                <a:ln w="12700" cmpd="sng">
                  <a:noFill/>
                  <a:prstDash val="solid"/>
                </a:ln>
                <a:gradFill flip="none" rotWithShape="1">
                  <a:gsLst>
                    <a:gs pos="0">
                      <a:srgbClr val="FF0000">
                        <a:shade val="30000"/>
                        <a:satMod val="115000"/>
                      </a:srgbClr>
                    </a:gs>
                    <a:gs pos="50000">
                      <a:srgbClr val="FF0000">
                        <a:shade val="67500"/>
                        <a:satMod val="115000"/>
                      </a:srgbClr>
                    </a:gs>
                    <a:gs pos="100000">
                      <a:srgbClr val="FF0000">
                        <a:shade val="100000"/>
                        <a:satMod val="115000"/>
                      </a:srgbClr>
                    </a:gs>
                  </a:gsLst>
                  <a:lin ang="16200000" scaled="1"/>
                  <a:tileRect/>
                </a:gradFill>
              </a:rPr>
            </a:br>
            <a:r>
              <a:rPr lang="pt-BR" dirty="0">
                <a:ln w="12700" cmpd="sng">
                  <a:noFill/>
                  <a:prstDash val="solid"/>
                </a:ln>
                <a:gradFill flip="none" rotWithShape="1">
                  <a:gsLst>
                    <a:gs pos="0">
                      <a:srgbClr val="FF0000">
                        <a:shade val="30000"/>
                        <a:satMod val="115000"/>
                      </a:srgbClr>
                    </a:gs>
                    <a:gs pos="50000">
                      <a:srgbClr val="FF0000">
                        <a:shade val="67500"/>
                        <a:satMod val="115000"/>
                      </a:srgbClr>
                    </a:gs>
                    <a:gs pos="100000">
                      <a:srgbClr val="FF0000">
                        <a:shade val="100000"/>
                        <a:satMod val="115000"/>
                      </a:srgbClr>
                    </a:gs>
                  </a:gsLst>
                  <a:lin ang="16200000" scaled="1"/>
                  <a:tileRect/>
                </a:gradFill>
              </a:rPr>
              <a:t>Necessidade de avaliar e classificar o quão bom cada cliente é para priorização comercial e estratégias de fidelização.</a:t>
            </a:r>
          </a:p>
          <a:p>
            <a:pPr indent="-457200" algn="l">
              <a:spcBef>
                <a:spcPts val="0"/>
              </a:spcBef>
              <a:buClr>
                <a:srgbClr val="FF0000"/>
              </a:buClr>
              <a:buFont typeface="+mj-lt"/>
              <a:buAutoNum type="arabicPeriod"/>
            </a:pPr>
            <a:endParaRPr lang="pt-BR" dirty="0">
              <a:ln w="12700" cmpd="sng">
                <a:noFill/>
                <a:prstDash val="solid"/>
              </a:ln>
              <a:gradFill flip="none" rotWithShape="1">
                <a:gsLst>
                  <a:gs pos="0">
                    <a:srgbClr val="FF0000">
                      <a:shade val="30000"/>
                      <a:satMod val="115000"/>
                    </a:srgbClr>
                  </a:gs>
                  <a:gs pos="50000">
                    <a:srgbClr val="FF0000">
                      <a:shade val="67500"/>
                      <a:satMod val="115000"/>
                    </a:srgbClr>
                  </a:gs>
                  <a:gs pos="100000">
                    <a:srgbClr val="FF0000">
                      <a:shade val="100000"/>
                      <a:satMod val="115000"/>
                    </a:srgbClr>
                  </a:gs>
                </a:gsLst>
                <a:lin ang="16200000" scaled="1"/>
                <a:tileRect/>
              </a:gradFill>
            </a:endParaRPr>
          </a:p>
          <a:p>
            <a:pPr indent="-457200" algn="l">
              <a:spcBef>
                <a:spcPts val="0"/>
              </a:spcBef>
              <a:buClr>
                <a:srgbClr val="FF0000"/>
              </a:buClr>
              <a:buFont typeface="+mj-lt"/>
              <a:buAutoNum type="arabicPeriod"/>
            </a:pPr>
            <a:r>
              <a:rPr lang="pt-BR" b="1" dirty="0">
                <a:ln w="12700" cmpd="sng">
                  <a:noFill/>
                  <a:prstDash val="solid"/>
                </a:ln>
                <a:gradFill flip="none" rotWithShape="1">
                  <a:gsLst>
                    <a:gs pos="0">
                      <a:srgbClr val="FF0000">
                        <a:shade val="30000"/>
                        <a:satMod val="115000"/>
                      </a:srgbClr>
                    </a:gs>
                    <a:gs pos="50000">
                      <a:srgbClr val="FF0000">
                        <a:shade val="67500"/>
                        <a:satMod val="115000"/>
                      </a:srgbClr>
                    </a:gs>
                    <a:gs pos="100000">
                      <a:srgbClr val="FF0000">
                        <a:shade val="100000"/>
                        <a:satMod val="115000"/>
                      </a:srgbClr>
                    </a:gs>
                  </a:gsLst>
                  <a:lin ang="16200000" scaled="1"/>
                  <a:tileRect/>
                </a:gradFill>
              </a:rPr>
              <a:t>Previsão de Inadimplência de Comodato:</a:t>
            </a:r>
            <a:br>
              <a:rPr lang="pt-BR" b="1" dirty="0">
                <a:ln w="12700" cmpd="sng">
                  <a:noFill/>
                  <a:prstDash val="solid"/>
                </a:ln>
                <a:gradFill flip="none" rotWithShape="1">
                  <a:gsLst>
                    <a:gs pos="0">
                      <a:srgbClr val="FF0000">
                        <a:shade val="30000"/>
                        <a:satMod val="115000"/>
                      </a:srgbClr>
                    </a:gs>
                    <a:gs pos="50000">
                      <a:srgbClr val="FF0000">
                        <a:shade val="67500"/>
                        <a:satMod val="115000"/>
                      </a:srgbClr>
                    </a:gs>
                    <a:gs pos="100000">
                      <a:srgbClr val="FF0000">
                        <a:shade val="100000"/>
                        <a:satMod val="115000"/>
                      </a:srgbClr>
                    </a:gs>
                  </a:gsLst>
                  <a:lin ang="16200000" scaled="1"/>
                  <a:tileRect/>
                </a:gradFill>
              </a:rPr>
            </a:br>
            <a:r>
              <a:rPr lang="pt-BR" dirty="0">
                <a:ln w="12700" cmpd="sng">
                  <a:noFill/>
                  <a:prstDash val="solid"/>
                </a:ln>
                <a:gradFill flip="none" rotWithShape="1">
                  <a:gsLst>
                    <a:gs pos="0">
                      <a:srgbClr val="FF0000">
                        <a:shade val="30000"/>
                        <a:satMod val="115000"/>
                      </a:srgbClr>
                    </a:gs>
                    <a:gs pos="50000">
                      <a:srgbClr val="FF0000">
                        <a:shade val="67500"/>
                        <a:satMod val="115000"/>
                      </a:srgbClr>
                    </a:gs>
                    <a:gs pos="100000">
                      <a:srgbClr val="FF0000">
                        <a:shade val="100000"/>
                        <a:satMod val="115000"/>
                      </a:srgbClr>
                    </a:gs>
                  </a:gsLst>
                  <a:lin ang="16200000" scaled="1"/>
                  <a:tileRect/>
                </a:gradFill>
              </a:rPr>
              <a:t>Definir chances de atrasar a devolução da </a:t>
            </a:r>
            <a:r>
              <a:rPr lang="pt-BR" dirty="0" err="1">
                <a:ln w="12700" cmpd="sng">
                  <a:noFill/>
                  <a:prstDash val="solid"/>
                </a:ln>
                <a:gradFill flip="none" rotWithShape="1">
                  <a:gsLst>
                    <a:gs pos="0">
                      <a:srgbClr val="FF0000">
                        <a:shade val="30000"/>
                        <a:satMod val="115000"/>
                      </a:srgbClr>
                    </a:gs>
                    <a:gs pos="50000">
                      <a:srgbClr val="FF0000">
                        <a:shade val="67500"/>
                        <a:satMod val="115000"/>
                      </a:srgbClr>
                    </a:gs>
                    <a:gs pos="100000">
                      <a:srgbClr val="FF0000">
                        <a:shade val="100000"/>
                        <a:satMod val="115000"/>
                      </a:srgbClr>
                    </a:gs>
                  </a:gsLst>
                  <a:lin ang="16200000" scaled="1"/>
                  <a:tileRect/>
                </a:gradFill>
              </a:rPr>
              <a:t>Choppeira</a:t>
            </a:r>
            <a:r>
              <a:rPr lang="pt-BR" dirty="0">
                <a:ln w="12700" cmpd="sng">
                  <a:noFill/>
                  <a:prstDash val="solid"/>
                </a:ln>
                <a:gradFill flip="none" rotWithShape="1">
                  <a:gsLst>
                    <a:gs pos="0">
                      <a:srgbClr val="FF0000">
                        <a:shade val="30000"/>
                        <a:satMod val="115000"/>
                      </a:srgbClr>
                    </a:gs>
                    <a:gs pos="50000">
                      <a:srgbClr val="FF0000">
                        <a:shade val="67500"/>
                        <a:satMod val="115000"/>
                      </a:srgbClr>
                    </a:gs>
                    <a:gs pos="100000">
                      <a:srgbClr val="FF0000">
                        <a:shade val="100000"/>
                        <a:satMod val="115000"/>
                      </a:srgbClr>
                    </a:gs>
                  </a:gsLst>
                  <a:lin ang="16200000" scaled="1"/>
                  <a:tileRect/>
                </a:gradFill>
              </a:rPr>
              <a:t> atrelado à classificação de confiança do Cliente</a:t>
            </a:r>
          </a:p>
          <a:p>
            <a:pPr marL="0" indent="0" algn="l">
              <a:spcBef>
                <a:spcPts val="0"/>
              </a:spcBef>
              <a:buClr>
                <a:srgbClr val="FF0000"/>
              </a:buClr>
            </a:pPr>
            <a:endParaRPr lang="pt-BR" b="1" dirty="0">
              <a:ln w="12700" cmpd="sng">
                <a:solidFill>
                  <a:schemeClr val="bg1"/>
                </a:solidFill>
                <a:prstDash val="solid"/>
              </a:ln>
              <a:gradFill flip="none" rotWithShape="1">
                <a:gsLst>
                  <a:gs pos="0">
                    <a:srgbClr val="FF0000">
                      <a:shade val="30000"/>
                      <a:satMod val="115000"/>
                    </a:srgbClr>
                  </a:gs>
                  <a:gs pos="50000">
                    <a:srgbClr val="FF0000">
                      <a:shade val="67500"/>
                      <a:satMod val="115000"/>
                    </a:srgbClr>
                  </a:gs>
                  <a:gs pos="100000">
                    <a:srgbClr val="FF0000">
                      <a:shade val="100000"/>
                      <a:satMod val="115000"/>
                    </a:srgbClr>
                  </a:gs>
                </a:gsLst>
                <a:lin ang="16200000" scaled="1"/>
                <a:tileRect/>
              </a:gradFill>
            </a:endParaRPr>
          </a:p>
        </p:txBody>
      </p:sp>
    </p:spTree>
    <p:extLst>
      <p:ext uri="{BB962C8B-B14F-4D97-AF65-F5344CB8AC3E}">
        <p14:creationId xmlns:p14="http://schemas.microsoft.com/office/powerpoint/2010/main" val="26968160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8" descr="https://www.lista11.com.br/adm/fotos/estabelecimentos/3455/premium-chopp-distribuidora-de-bebidas-aluguel-de-maquina-de-chopp-em-caieiras-delivery-de-bebidas-cerveja-artesanal-em-franco-da-rocha-centro_3455_11619_170801538065ce3f1445c2e.jpeg">
            <a:extLst>
              <a:ext uri="{FF2B5EF4-FFF2-40B4-BE49-F238E27FC236}">
                <a16:creationId xmlns:a16="http://schemas.microsoft.com/office/drawing/2014/main" id="{CA8DB991-8025-4F8D-B669-A9ECB2A129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CD734625-5F5C-42E5-9CC6-47887DA2096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8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4" name="Picture 6" descr="https://bkpsitecpsnew.blob.core.windows.net/uploadsitecps/sites/1/2012/05/Logo-Fatec-1200x800-1.jpg">
            <a:extLst>
              <a:ext uri="{FF2B5EF4-FFF2-40B4-BE49-F238E27FC236}">
                <a16:creationId xmlns:a16="http://schemas.microsoft.com/office/drawing/2014/main" id="{D108BC2C-C337-4E40-AA91-CA2A272D2C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62744" y="-237552"/>
            <a:ext cx="2324912" cy="1549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Google Shape;99;p14">
            <a:extLst>
              <a:ext uri="{FF2B5EF4-FFF2-40B4-BE49-F238E27FC236}">
                <a16:creationId xmlns:a16="http://schemas.microsoft.com/office/drawing/2014/main" id="{7E4025E5-A6C5-4B71-B5DA-86CAA685A210}"/>
              </a:ext>
            </a:extLst>
          </p:cNvPr>
          <p:cNvSpPr txBox="1">
            <a:spLocks/>
          </p:cNvSpPr>
          <p:nvPr/>
        </p:nvSpPr>
        <p:spPr>
          <a:xfrm>
            <a:off x="838200" y="525371"/>
            <a:ext cx="10515600" cy="7870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2400"/>
              <a:buFont typeface="Arial"/>
              <a:buNone/>
            </a:pPr>
            <a:r>
              <a:rPr lang="pt-BR" b="1" dirty="0">
                <a:ln>
                  <a:solidFill>
                    <a:schemeClr val="bg1"/>
                  </a:solidFill>
                </a:ln>
                <a:gradFill flip="none" rotWithShape="1">
                  <a:gsLst>
                    <a:gs pos="0">
                      <a:srgbClr val="FF0000">
                        <a:shade val="30000"/>
                        <a:satMod val="115000"/>
                      </a:srgbClr>
                    </a:gs>
                    <a:gs pos="50000">
                      <a:srgbClr val="FF0000">
                        <a:shade val="67500"/>
                        <a:satMod val="115000"/>
                      </a:srgbClr>
                    </a:gs>
                    <a:gs pos="100000">
                      <a:srgbClr val="FF0000">
                        <a:shade val="100000"/>
                        <a:satMod val="115000"/>
                      </a:srgbClr>
                    </a:gs>
                  </a:gsLst>
                  <a:lin ang="16200000" scaled="1"/>
                  <a:tileRect/>
                </a:gradFill>
                <a:sym typeface="Arial"/>
              </a:rPr>
              <a:t>Principais Etapas</a:t>
            </a:r>
          </a:p>
        </p:txBody>
      </p:sp>
      <p:sp>
        <p:nvSpPr>
          <p:cNvPr id="11" name="Google Shape;94;p13">
            <a:extLst>
              <a:ext uri="{FF2B5EF4-FFF2-40B4-BE49-F238E27FC236}">
                <a16:creationId xmlns:a16="http://schemas.microsoft.com/office/drawing/2014/main" id="{9F8D0535-02EE-4B3E-AF7F-B8D77671299B}"/>
              </a:ext>
            </a:extLst>
          </p:cNvPr>
          <p:cNvSpPr txBox="1">
            <a:spLocks/>
          </p:cNvSpPr>
          <p:nvPr/>
        </p:nvSpPr>
        <p:spPr>
          <a:xfrm>
            <a:off x="962023" y="1435641"/>
            <a:ext cx="10096501" cy="46769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 algn="l">
              <a:spcBef>
                <a:spcPts val="0"/>
              </a:spcBef>
              <a:buClr>
                <a:srgbClr val="FF0000"/>
              </a:buClr>
            </a:pPr>
            <a:r>
              <a:rPr lang="pt-BR" b="1" dirty="0">
                <a:ln w="12700" cmpd="sng">
                  <a:noFill/>
                  <a:prstDash val="solid"/>
                </a:ln>
                <a:gradFill flip="none" rotWithShape="1">
                  <a:gsLst>
                    <a:gs pos="0">
                      <a:srgbClr val="FF0000">
                        <a:shade val="30000"/>
                        <a:satMod val="115000"/>
                      </a:srgbClr>
                    </a:gs>
                    <a:gs pos="50000">
                      <a:srgbClr val="FF0000">
                        <a:shade val="67500"/>
                        <a:satMod val="115000"/>
                      </a:srgbClr>
                    </a:gs>
                    <a:gs pos="100000">
                      <a:srgbClr val="FF0000">
                        <a:shade val="100000"/>
                        <a:satMod val="115000"/>
                      </a:srgbClr>
                    </a:gs>
                  </a:gsLst>
                  <a:lin ang="16200000" scaled="1"/>
                  <a:tileRect/>
                </a:gradFill>
              </a:rPr>
              <a:t>1. Entender</a:t>
            </a:r>
          </a:p>
          <a:p>
            <a:pPr marL="0" indent="0" algn="l">
              <a:spcBef>
                <a:spcPts val="0"/>
              </a:spcBef>
              <a:buClr>
                <a:srgbClr val="FF0000"/>
              </a:buClr>
            </a:pPr>
            <a:r>
              <a:rPr lang="pt-BR" dirty="0">
                <a:ln w="12700" cmpd="sng">
                  <a:noFill/>
                  <a:prstDash val="solid"/>
                </a:ln>
                <a:gradFill flip="none" rotWithShape="1">
                  <a:gsLst>
                    <a:gs pos="0">
                      <a:srgbClr val="FF0000">
                        <a:shade val="30000"/>
                        <a:satMod val="115000"/>
                      </a:srgbClr>
                    </a:gs>
                    <a:gs pos="50000">
                      <a:srgbClr val="FF0000">
                        <a:shade val="67500"/>
                        <a:satMod val="115000"/>
                      </a:srgbClr>
                    </a:gs>
                    <a:gs pos="100000">
                      <a:srgbClr val="FF0000">
                        <a:shade val="100000"/>
                        <a:satMod val="115000"/>
                      </a:srgbClr>
                    </a:gs>
                  </a:gsLst>
                  <a:lin ang="16200000" scaled="1"/>
                  <a:tileRect/>
                </a:gradFill>
              </a:rPr>
              <a:t>Identificar as Variáveis Alvo</a:t>
            </a:r>
          </a:p>
          <a:p>
            <a:pPr marL="0" indent="0" algn="l">
              <a:spcBef>
                <a:spcPts val="0"/>
              </a:spcBef>
              <a:buClr>
                <a:srgbClr val="FF0000"/>
              </a:buClr>
            </a:pPr>
            <a:endParaRPr lang="pt-BR" b="1" dirty="0">
              <a:ln w="12700" cmpd="sng">
                <a:noFill/>
                <a:prstDash val="solid"/>
              </a:ln>
              <a:gradFill flip="none" rotWithShape="1">
                <a:gsLst>
                  <a:gs pos="0">
                    <a:srgbClr val="FF0000">
                      <a:shade val="30000"/>
                      <a:satMod val="115000"/>
                    </a:srgbClr>
                  </a:gs>
                  <a:gs pos="50000">
                    <a:srgbClr val="FF0000">
                      <a:shade val="67500"/>
                      <a:satMod val="115000"/>
                    </a:srgbClr>
                  </a:gs>
                  <a:gs pos="100000">
                    <a:srgbClr val="FF0000">
                      <a:shade val="100000"/>
                      <a:satMod val="115000"/>
                    </a:srgbClr>
                  </a:gs>
                </a:gsLst>
                <a:lin ang="16200000" scaled="1"/>
                <a:tileRect/>
              </a:gradFill>
            </a:endParaRPr>
          </a:p>
          <a:p>
            <a:pPr marL="0" indent="0" algn="l">
              <a:spcBef>
                <a:spcPts val="0"/>
              </a:spcBef>
              <a:buClr>
                <a:srgbClr val="FF0000"/>
              </a:buClr>
            </a:pPr>
            <a:r>
              <a:rPr lang="pt-BR" b="1" dirty="0">
                <a:ln w="12700" cmpd="sng">
                  <a:noFill/>
                  <a:prstDash val="solid"/>
                </a:ln>
                <a:gradFill flip="none" rotWithShape="1">
                  <a:gsLst>
                    <a:gs pos="0">
                      <a:srgbClr val="FF0000">
                        <a:shade val="30000"/>
                        <a:satMod val="115000"/>
                      </a:srgbClr>
                    </a:gs>
                    <a:gs pos="50000">
                      <a:srgbClr val="FF0000">
                        <a:shade val="67500"/>
                        <a:satMod val="115000"/>
                      </a:srgbClr>
                    </a:gs>
                    <a:gs pos="100000">
                      <a:srgbClr val="FF0000">
                        <a:shade val="100000"/>
                        <a:satMod val="115000"/>
                      </a:srgbClr>
                    </a:gs>
                  </a:gsLst>
                  <a:lin ang="16200000" scaled="1"/>
                  <a:tileRect/>
                </a:gradFill>
              </a:rPr>
              <a:t>2. Preparação  </a:t>
            </a:r>
          </a:p>
          <a:p>
            <a:pPr marL="0" indent="0" algn="l">
              <a:spcBef>
                <a:spcPts val="0"/>
              </a:spcBef>
              <a:buClr>
                <a:srgbClr val="FF0000"/>
              </a:buClr>
            </a:pPr>
            <a:r>
              <a:rPr lang="pt-BR" sz="2500" dirty="0">
                <a:ln w="12700" cmpd="sng">
                  <a:noFill/>
                  <a:prstDash val="solid"/>
                </a:ln>
                <a:gradFill flip="none" rotWithShape="1">
                  <a:gsLst>
                    <a:gs pos="0">
                      <a:srgbClr val="FF0000">
                        <a:shade val="30000"/>
                        <a:satMod val="115000"/>
                      </a:srgbClr>
                    </a:gs>
                    <a:gs pos="50000">
                      <a:srgbClr val="FF0000">
                        <a:shade val="67500"/>
                        <a:satMod val="115000"/>
                      </a:srgbClr>
                    </a:gs>
                    <a:gs pos="100000">
                      <a:srgbClr val="FF0000">
                        <a:shade val="100000"/>
                        <a:satMod val="115000"/>
                      </a:srgbClr>
                    </a:gs>
                  </a:gsLst>
                  <a:lin ang="16200000" scaled="1"/>
                  <a:tileRect/>
                </a:gradFill>
              </a:rPr>
              <a:t>Garantir a qualidade e disponibilidade dos dados</a:t>
            </a:r>
            <a:br>
              <a:rPr lang="pt-BR" b="1" dirty="0">
                <a:ln w="12700" cmpd="sng">
                  <a:noFill/>
                  <a:prstDash val="solid"/>
                </a:ln>
                <a:gradFill flip="none" rotWithShape="1">
                  <a:gsLst>
                    <a:gs pos="0">
                      <a:srgbClr val="FF0000">
                        <a:shade val="30000"/>
                        <a:satMod val="115000"/>
                      </a:srgbClr>
                    </a:gs>
                    <a:gs pos="50000">
                      <a:srgbClr val="FF0000">
                        <a:shade val="67500"/>
                        <a:satMod val="115000"/>
                      </a:srgbClr>
                    </a:gs>
                    <a:gs pos="100000">
                      <a:srgbClr val="FF0000">
                        <a:shade val="100000"/>
                        <a:satMod val="115000"/>
                      </a:srgbClr>
                    </a:gs>
                  </a:gsLst>
                  <a:lin ang="16200000" scaled="1"/>
                  <a:tileRect/>
                </a:gradFill>
              </a:rPr>
            </a:br>
            <a:endParaRPr lang="pt-BR" b="1" dirty="0">
              <a:ln w="12700" cmpd="sng">
                <a:noFill/>
                <a:prstDash val="solid"/>
              </a:ln>
              <a:gradFill flip="none" rotWithShape="1">
                <a:gsLst>
                  <a:gs pos="0">
                    <a:srgbClr val="FF0000">
                      <a:shade val="30000"/>
                      <a:satMod val="115000"/>
                    </a:srgbClr>
                  </a:gs>
                  <a:gs pos="50000">
                    <a:srgbClr val="FF0000">
                      <a:shade val="67500"/>
                      <a:satMod val="115000"/>
                    </a:srgbClr>
                  </a:gs>
                  <a:gs pos="100000">
                    <a:srgbClr val="FF0000">
                      <a:shade val="100000"/>
                      <a:satMod val="115000"/>
                    </a:srgbClr>
                  </a:gs>
                </a:gsLst>
                <a:lin ang="16200000" scaled="1"/>
                <a:tileRect/>
              </a:gradFill>
            </a:endParaRPr>
          </a:p>
          <a:p>
            <a:pPr marL="0" indent="0" algn="l">
              <a:spcBef>
                <a:spcPts val="0"/>
              </a:spcBef>
              <a:buClr>
                <a:srgbClr val="FF0000"/>
              </a:buClr>
            </a:pPr>
            <a:r>
              <a:rPr lang="pt-BR" b="1" dirty="0">
                <a:ln w="12700" cmpd="sng">
                  <a:noFill/>
                  <a:prstDash val="solid"/>
                </a:ln>
                <a:gradFill flip="none" rotWithShape="1">
                  <a:gsLst>
                    <a:gs pos="0">
                      <a:srgbClr val="FF0000">
                        <a:shade val="30000"/>
                        <a:satMod val="115000"/>
                      </a:srgbClr>
                    </a:gs>
                    <a:gs pos="50000">
                      <a:srgbClr val="FF0000">
                        <a:shade val="67500"/>
                        <a:satMod val="115000"/>
                      </a:srgbClr>
                    </a:gs>
                    <a:gs pos="100000">
                      <a:srgbClr val="FF0000">
                        <a:shade val="100000"/>
                        <a:satMod val="115000"/>
                      </a:srgbClr>
                    </a:gs>
                  </a:gsLst>
                  <a:lin ang="16200000" scaled="1"/>
                  <a:tileRect/>
                </a:gradFill>
              </a:rPr>
              <a:t>3. Processamento</a:t>
            </a:r>
            <a:br>
              <a:rPr lang="pt-BR" b="1" dirty="0">
                <a:ln w="12700" cmpd="sng">
                  <a:noFill/>
                  <a:prstDash val="solid"/>
                </a:ln>
                <a:gradFill flip="none" rotWithShape="1">
                  <a:gsLst>
                    <a:gs pos="0">
                      <a:srgbClr val="FF0000">
                        <a:shade val="30000"/>
                        <a:satMod val="115000"/>
                      </a:srgbClr>
                    </a:gs>
                    <a:gs pos="50000">
                      <a:srgbClr val="FF0000">
                        <a:shade val="67500"/>
                        <a:satMod val="115000"/>
                      </a:srgbClr>
                    </a:gs>
                    <a:gs pos="100000">
                      <a:srgbClr val="FF0000">
                        <a:shade val="100000"/>
                        <a:satMod val="115000"/>
                      </a:srgbClr>
                    </a:gs>
                  </a:gsLst>
                  <a:lin ang="16200000" scaled="1"/>
                  <a:tileRect/>
                </a:gradFill>
              </a:rPr>
            </a:br>
            <a:r>
              <a:rPr lang="pt-BR" dirty="0">
                <a:ln w="12700" cmpd="sng">
                  <a:noFill/>
                  <a:prstDash val="solid"/>
                </a:ln>
                <a:gradFill flip="none" rotWithShape="1">
                  <a:gsLst>
                    <a:gs pos="0">
                      <a:srgbClr val="FF0000">
                        <a:shade val="30000"/>
                        <a:satMod val="115000"/>
                      </a:srgbClr>
                    </a:gs>
                    <a:gs pos="50000">
                      <a:srgbClr val="FF0000">
                        <a:shade val="67500"/>
                        <a:satMod val="115000"/>
                      </a:srgbClr>
                    </a:gs>
                    <a:gs pos="100000">
                      <a:srgbClr val="FF0000">
                        <a:shade val="100000"/>
                        <a:satMod val="115000"/>
                      </a:srgbClr>
                    </a:gs>
                  </a:gsLst>
                  <a:lin ang="16200000" scaled="1"/>
                  <a:tileRect/>
                </a:gradFill>
              </a:rPr>
              <a:t>Manipulação dos dados para serem consumidos pelos algoritmos </a:t>
            </a:r>
            <a:br>
              <a:rPr lang="pt-BR" b="1" dirty="0">
                <a:ln w="12700" cmpd="sng">
                  <a:noFill/>
                  <a:prstDash val="solid"/>
                </a:ln>
                <a:gradFill flip="none" rotWithShape="1">
                  <a:gsLst>
                    <a:gs pos="0">
                      <a:srgbClr val="FF0000">
                        <a:shade val="30000"/>
                        <a:satMod val="115000"/>
                      </a:srgbClr>
                    </a:gs>
                    <a:gs pos="50000">
                      <a:srgbClr val="FF0000">
                        <a:shade val="67500"/>
                        <a:satMod val="115000"/>
                      </a:srgbClr>
                    </a:gs>
                    <a:gs pos="100000">
                      <a:srgbClr val="FF0000">
                        <a:shade val="100000"/>
                        <a:satMod val="115000"/>
                      </a:srgbClr>
                    </a:gs>
                  </a:gsLst>
                  <a:lin ang="16200000" scaled="1"/>
                  <a:tileRect/>
                </a:gradFill>
              </a:rPr>
            </a:br>
            <a:endParaRPr lang="pt-BR" b="1" dirty="0">
              <a:ln w="12700" cmpd="sng">
                <a:noFill/>
                <a:prstDash val="solid"/>
              </a:ln>
              <a:gradFill flip="none" rotWithShape="1">
                <a:gsLst>
                  <a:gs pos="0">
                    <a:srgbClr val="FF0000">
                      <a:shade val="30000"/>
                      <a:satMod val="115000"/>
                    </a:srgbClr>
                  </a:gs>
                  <a:gs pos="50000">
                    <a:srgbClr val="FF0000">
                      <a:shade val="67500"/>
                      <a:satMod val="115000"/>
                    </a:srgbClr>
                  </a:gs>
                  <a:gs pos="100000">
                    <a:srgbClr val="FF0000">
                      <a:shade val="100000"/>
                      <a:satMod val="115000"/>
                    </a:srgbClr>
                  </a:gs>
                </a:gsLst>
                <a:lin ang="16200000" scaled="1"/>
                <a:tileRect/>
              </a:gradFill>
            </a:endParaRPr>
          </a:p>
          <a:p>
            <a:pPr marL="0" indent="0" algn="l">
              <a:spcBef>
                <a:spcPts val="0"/>
              </a:spcBef>
              <a:buClr>
                <a:srgbClr val="FF0000"/>
              </a:buClr>
            </a:pPr>
            <a:r>
              <a:rPr lang="pt-BR" b="1" dirty="0">
                <a:ln w="12700" cmpd="sng">
                  <a:noFill/>
                  <a:prstDash val="solid"/>
                </a:ln>
                <a:gradFill flip="none" rotWithShape="1">
                  <a:gsLst>
                    <a:gs pos="0">
                      <a:srgbClr val="FF0000">
                        <a:shade val="30000"/>
                        <a:satMod val="115000"/>
                      </a:srgbClr>
                    </a:gs>
                    <a:gs pos="50000">
                      <a:srgbClr val="FF0000">
                        <a:shade val="67500"/>
                        <a:satMod val="115000"/>
                      </a:srgbClr>
                    </a:gs>
                    <a:gs pos="100000">
                      <a:srgbClr val="FF0000">
                        <a:shade val="100000"/>
                        <a:satMod val="115000"/>
                      </a:srgbClr>
                    </a:gs>
                  </a:gsLst>
                  <a:lin ang="16200000" scaled="1"/>
                  <a:tileRect/>
                </a:gradFill>
              </a:rPr>
              <a:t>4. Analisar </a:t>
            </a:r>
          </a:p>
          <a:p>
            <a:pPr marL="0" indent="0" algn="l">
              <a:spcBef>
                <a:spcPts val="0"/>
              </a:spcBef>
              <a:buClr>
                <a:srgbClr val="FF0000"/>
              </a:buClr>
            </a:pPr>
            <a:r>
              <a:rPr lang="pt-BR" dirty="0">
                <a:ln w="12700" cmpd="sng">
                  <a:noFill/>
                  <a:prstDash val="solid"/>
                </a:ln>
                <a:gradFill flip="none" rotWithShape="1">
                  <a:gsLst>
                    <a:gs pos="0">
                      <a:srgbClr val="FF0000">
                        <a:shade val="30000"/>
                        <a:satMod val="115000"/>
                      </a:srgbClr>
                    </a:gs>
                    <a:gs pos="50000">
                      <a:srgbClr val="FF0000">
                        <a:shade val="67500"/>
                        <a:satMod val="115000"/>
                      </a:srgbClr>
                    </a:gs>
                    <a:gs pos="100000">
                      <a:srgbClr val="FF0000">
                        <a:shade val="100000"/>
                        <a:satMod val="115000"/>
                      </a:srgbClr>
                    </a:gs>
                  </a:gsLst>
                  <a:lin ang="16200000" scaled="1"/>
                  <a:tileRect/>
                </a:gradFill>
              </a:rPr>
              <a:t>Escolha do Algoritmo, Geração dos resultados conforme definição do problema</a:t>
            </a:r>
            <a:br>
              <a:rPr lang="pt-BR" b="1" dirty="0">
                <a:ln w="12700" cmpd="sng">
                  <a:noFill/>
                  <a:prstDash val="solid"/>
                </a:ln>
                <a:gradFill flip="none" rotWithShape="1">
                  <a:gsLst>
                    <a:gs pos="0">
                      <a:srgbClr val="FF0000">
                        <a:shade val="30000"/>
                        <a:satMod val="115000"/>
                      </a:srgbClr>
                    </a:gs>
                    <a:gs pos="50000">
                      <a:srgbClr val="FF0000">
                        <a:shade val="67500"/>
                        <a:satMod val="115000"/>
                      </a:srgbClr>
                    </a:gs>
                    <a:gs pos="100000">
                      <a:srgbClr val="FF0000">
                        <a:shade val="100000"/>
                        <a:satMod val="115000"/>
                      </a:srgbClr>
                    </a:gs>
                  </a:gsLst>
                  <a:lin ang="16200000" scaled="1"/>
                  <a:tileRect/>
                </a:gradFill>
              </a:rPr>
            </a:br>
            <a:endParaRPr lang="pt-BR" b="1" dirty="0">
              <a:ln w="12700" cmpd="sng">
                <a:noFill/>
                <a:prstDash val="solid"/>
              </a:ln>
              <a:gradFill flip="none" rotWithShape="1">
                <a:gsLst>
                  <a:gs pos="0">
                    <a:srgbClr val="FF0000">
                      <a:shade val="30000"/>
                      <a:satMod val="115000"/>
                    </a:srgbClr>
                  </a:gs>
                  <a:gs pos="50000">
                    <a:srgbClr val="FF0000">
                      <a:shade val="67500"/>
                      <a:satMod val="115000"/>
                    </a:srgbClr>
                  </a:gs>
                  <a:gs pos="100000">
                    <a:srgbClr val="FF0000">
                      <a:shade val="100000"/>
                      <a:satMod val="115000"/>
                    </a:srgbClr>
                  </a:gs>
                </a:gsLst>
                <a:lin ang="16200000" scaled="1"/>
                <a:tileRect/>
              </a:gradFill>
            </a:endParaRPr>
          </a:p>
          <a:p>
            <a:pPr marL="0" indent="0" algn="l">
              <a:spcBef>
                <a:spcPts val="0"/>
              </a:spcBef>
              <a:buClr>
                <a:srgbClr val="FF0000"/>
              </a:buClr>
            </a:pPr>
            <a:r>
              <a:rPr lang="pt-BR" b="1" dirty="0">
                <a:ln w="12700" cmpd="sng">
                  <a:noFill/>
                  <a:prstDash val="solid"/>
                </a:ln>
                <a:gradFill flip="none" rotWithShape="1">
                  <a:gsLst>
                    <a:gs pos="0">
                      <a:srgbClr val="FF0000">
                        <a:shade val="30000"/>
                        <a:satMod val="115000"/>
                      </a:srgbClr>
                    </a:gs>
                    <a:gs pos="50000">
                      <a:srgbClr val="FF0000">
                        <a:shade val="67500"/>
                        <a:satMod val="115000"/>
                      </a:srgbClr>
                    </a:gs>
                    <a:gs pos="100000">
                      <a:srgbClr val="FF0000">
                        <a:shade val="100000"/>
                        <a:satMod val="115000"/>
                      </a:srgbClr>
                    </a:gs>
                  </a:gsLst>
                  <a:lin ang="16200000" scaled="1"/>
                  <a:tileRect/>
                </a:gradFill>
              </a:rPr>
              <a:t>5. Compartilhar</a:t>
            </a:r>
          </a:p>
          <a:p>
            <a:pPr marL="0" indent="0" algn="l">
              <a:spcBef>
                <a:spcPts val="0"/>
              </a:spcBef>
              <a:buClr>
                <a:srgbClr val="FF0000"/>
              </a:buClr>
            </a:pPr>
            <a:r>
              <a:rPr lang="pt-BR" dirty="0">
                <a:ln w="12700" cmpd="sng">
                  <a:noFill/>
                  <a:prstDash val="solid"/>
                </a:ln>
                <a:gradFill flip="none" rotWithShape="1">
                  <a:gsLst>
                    <a:gs pos="0">
                      <a:srgbClr val="FF0000">
                        <a:shade val="30000"/>
                        <a:satMod val="115000"/>
                      </a:srgbClr>
                    </a:gs>
                    <a:gs pos="50000">
                      <a:srgbClr val="FF0000">
                        <a:shade val="67500"/>
                        <a:satMod val="115000"/>
                      </a:srgbClr>
                    </a:gs>
                    <a:gs pos="100000">
                      <a:srgbClr val="FF0000">
                        <a:shade val="100000"/>
                        <a:satMod val="115000"/>
                      </a:srgbClr>
                    </a:gs>
                  </a:gsLst>
                  <a:lin ang="16200000" scaled="1"/>
                  <a:tileRect/>
                </a:gradFill>
              </a:rPr>
              <a:t>Tradução dos dados para que possam ser entendidos por todos os interessados</a:t>
            </a:r>
          </a:p>
          <a:p>
            <a:pPr marL="0" indent="0" algn="l">
              <a:spcBef>
                <a:spcPts val="0"/>
              </a:spcBef>
              <a:buClr>
                <a:srgbClr val="FF0000"/>
              </a:buClr>
            </a:pPr>
            <a:endParaRPr lang="pt-BR" b="1" dirty="0">
              <a:ln w="12700" cmpd="sng">
                <a:noFill/>
                <a:prstDash val="solid"/>
              </a:ln>
              <a:gradFill flip="none" rotWithShape="1">
                <a:gsLst>
                  <a:gs pos="0">
                    <a:srgbClr val="FF0000">
                      <a:shade val="30000"/>
                      <a:satMod val="115000"/>
                    </a:srgbClr>
                  </a:gs>
                  <a:gs pos="50000">
                    <a:srgbClr val="FF0000">
                      <a:shade val="67500"/>
                      <a:satMod val="115000"/>
                    </a:srgbClr>
                  </a:gs>
                  <a:gs pos="100000">
                    <a:srgbClr val="FF0000">
                      <a:shade val="100000"/>
                      <a:satMod val="115000"/>
                    </a:srgbClr>
                  </a:gs>
                </a:gsLst>
                <a:lin ang="16200000" scaled="1"/>
                <a:tileRect/>
              </a:gradFill>
            </a:endParaRPr>
          </a:p>
          <a:p>
            <a:pPr marL="0" indent="0" algn="l">
              <a:spcBef>
                <a:spcPts val="0"/>
              </a:spcBef>
              <a:buClr>
                <a:srgbClr val="FF0000"/>
              </a:buClr>
            </a:pPr>
            <a:r>
              <a:rPr lang="pt-BR" b="1" dirty="0">
                <a:ln w="12700" cmpd="sng">
                  <a:noFill/>
                  <a:prstDash val="solid"/>
                </a:ln>
                <a:gradFill flip="none" rotWithShape="1">
                  <a:gsLst>
                    <a:gs pos="0">
                      <a:srgbClr val="FF0000">
                        <a:shade val="30000"/>
                        <a:satMod val="115000"/>
                      </a:srgbClr>
                    </a:gs>
                    <a:gs pos="50000">
                      <a:srgbClr val="FF0000">
                        <a:shade val="67500"/>
                        <a:satMod val="115000"/>
                      </a:srgbClr>
                    </a:gs>
                    <a:gs pos="100000">
                      <a:srgbClr val="FF0000">
                        <a:shade val="100000"/>
                        <a:satMod val="115000"/>
                      </a:srgbClr>
                    </a:gs>
                  </a:gsLst>
                  <a:lin ang="16200000" scaled="1"/>
                  <a:tileRect/>
                </a:gradFill>
              </a:rPr>
              <a:t>6. Agir </a:t>
            </a:r>
          </a:p>
          <a:p>
            <a:pPr marL="0" indent="0" algn="l">
              <a:spcBef>
                <a:spcPts val="0"/>
              </a:spcBef>
              <a:buClr>
                <a:srgbClr val="FF0000"/>
              </a:buClr>
            </a:pPr>
            <a:r>
              <a:rPr lang="pt-BR" dirty="0">
                <a:ln w="12700" cmpd="sng">
                  <a:noFill/>
                  <a:prstDash val="solid"/>
                </a:ln>
                <a:gradFill flip="none" rotWithShape="1">
                  <a:gsLst>
                    <a:gs pos="0">
                      <a:srgbClr val="FF0000">
                        <a:shade val="30000"/>
                        <a:satMod val="115000"/>
                      </a:srgbClr>
                    </a:gs>
                    <a:gs pos="50000">
                      <a:srgbClr val="FF0000">
                        <a:shade val="67500"/>
                        <a:satMod val="115000"/>
                      </a:srgbClr>
                    </a:gs>
                    <a:gs pos="100000">
                      <a:srgbClr val="FF0000">
                        <a:shade val="100000"/>
                        <a:satMod val="115000"/>
                      </a:srgbClr>
                    </a:gs>
                  </a:gsLst>
                  <a:lin ang="16200000" scaled="1"/>
                  <a:tileRect/>
                </a:gradFill>
              </a:rPr>
              <a:t>A partir das conclusões guiar a tomada de ações orientadas pelos modelos </a:t>
            </a:r>
            <a:br>
              <a:rPr lang="pt-BR" b="1" dirty="0">
                <a:ln w="12700" cmpd="sng">
                  <a:noFill/>
                  <a:prstDash val="solid"/>
                </a:ln>
                <a:gradFill flip="none" rotWithShape="1">
                  <a:gsLst>
                    <a:gs pos="0">
                      <a:srgbClr val="FF0000">
                        <a:shade val="30000"/>
                        <a:satMod val="115000"/>
                      </a:srgbClr>
                    </a:gs>
                    <a:gs pos="50000">
                      <a:srgbClr val="FF0000">
                        <a:shade val="67500"/>
                        <a:satMod val="115000"/>
                      </a:srgbClr>
                    </a:gs>
                    <a:gs pos="100000">
                      <a:srgbClr val="FF0000">
                        <a:shade val="100000"/>
                        <a:satMod val="115000"/>
                      </a:srgbClr>
                    </a:gs>
                  </a:gsLst>
                  <a:lin ang="16200000" scaled="1"/>
                  <a:tileRect/>
                </a:gradFill>
              </a:rPr>
            </a:br>
            <a:endParaRPr lang="pt-BR" b="1" dirty="0">
              <a:ln w="12700" cmpd="sng">
                <a:solidFill>
                  <a:schemeClr val="bg1"/>
                </a:solidFill>
                <a:prstDash val="solid"/>
              </a:ln>
              <a:gradFill flip="none" rotWithShape="1">
                <a:gsLst>
                  <a:gs pos="0">
                    <a:srgbClr val="FF0000">
                      <a:shade val="30000"/>
                      <a:satMod val="115000"/>
                    </a:srgbClr>
                  </a:gs>
                  <a:gs pos="50000">
                    <a:srgbClr val="FF0000">
                      <a:shade val="67500"/>
                      <a:satMod val="115000"/>
                    </a:srgbClr>
                  </a:gs>
                  <a:gs pos="100000">
                    <a:srgbClr val="FF0000">
                      <a:shade val="100000"/>
                      <a:satMod val="115000"/>
                    </a:srgbClr>
                  </a:gs>
                </a:gsLst>
                <a:lin ang="16200000" scaled="1"/>
                <a:tileRect/>
              </a:gradFill>
            </a:endParaRPr>
          </a:p>
        </p:txBody>
      </p:sp>
    </p:spTree>
    <p:extLst>
      <p:ext uri="{BB962C8B-B14F-4D97-AF65-F5344CB8AC3E}">
        <p14:creationId xmlns:p14="http://schemas.microsoft.com/office/powerpoint/2010/main" val="10062395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8" descr="https://www.lista11.com.br/adm/fotos/estabelecimentos/3455/premium-chopp-distribuidora-de-bebidas-aluguel-de-maquina-de-chopp-em-caieiras-delivery-de-bebidas-cerveja-artesanal-em-franco-da-rocha-centro_3455_11619_170801538065ce3f1445c2e.jpeg">
            <a:extLst>
              <a:ext uri="{FF2B5EF4-FFF2-40B4-BE49-F238E27FC236}">
                <a16:creationId xmlns:a16="http://schemas.microsoft.com/office/drawing/2014/main" id="{CA8DB991-8025-4F8D-B669-A9ECB2A129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CD734625-5F5C-42E5-9CC6-47887DA2096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8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4" name="Picture 6" descr="https://bkpsitecpsnew.blob.core.windows.net/uploadsitecps/sites/1/2012/05/Logo-Fatec-1200x800-1.jpg">
            <a:extLst>
              <a:ext uri="{FF2B5EF4-FFF2-40B4-BE49-F238E27FC236}">
                <a16:creationId xmlns:a16="http://schemas.microsoft.com/office/drawing/2014/main" id="{D108BC2C-C337-4E40-AA91-CA2A272D2C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62744" y="-237552"/>
            <a:ext cx="2324912" cy="1549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Google Shape;99;p14">
            <a:extLst>
              <a:ext uri="{FF2B5EF4-FFF2-40B4-BE49-F238E27FC236}">
                <a16:creationId xmlns:a16="http://schemas.microsoft.com/office/drawing/2014/main" id="{7E4025E5-A6C5-4B71-B5DA-86CAA685A210}"/>
              </a:ext>
            </a:extLst>
          </p:cNvPr>
          <p:cNvSpPr txBox="1">
            <a:spLocks/>
          </p:cNvSpPr>
          <p:nvPr/>
        </p:nvSpPr>
        <p:spPr>
          <a:xfrm>
            <a:off x="838200" y="525371"/>
            <a:ext cx="10515600" cy="7870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2400"/>
              <a:buFont typeface="Arial"/>
              <a:buNone/>
            </a:pPr>
            <a:r>
              <a:rPr lang="pt-BR" b="1" dirty="0">
                <a:ln>
                  <a:solidFill>
                    <a:schemeClr val="bg1"/>
                  </a:solidFill>
                </a:ln>
                <a:gradFill flip="none" rotWithShape="1">
                  <a:gsLst>
                    <a:gs pos="0">
                      <a:srgbClr val="FF0000">
                        <a:shade val="30000"/>
                        <a:satMod val="115000"/>
                      </a:srgbClr>
                    </a:gs>
                    <a:gs pos="50000">
                      <a:srgbClr val="FF0000">
                        <a:shade val="67500"/>
                        <a:satMod val="115000"/>
                      </a:srgbClr>
                    </a:gs>
                    <a:gs pos="100000">
                      <a:srgbClr val="FF0000">
                        <a:shade val="100000"/>
                        <a:satMod val="115000"/>
                      </a:srgbClr>
                    </a:gs>
                  </a:gsLst>
                  <a:lin ang="16200000" scaled="1"/>
                  <a:tileRect/>
                </a:gradFill>
                <a:sym typeface="Arial"/>
              </a:rPr>
              <a:t>Time do Projeto</a:t>
            </a:r>
          </a:p>
        </p:txBody>
      </p:sp>
      <p:grpSp>
        <p:nvGrpSpPr>
          <p:cNvPr id="15" name="Agrupar 14">
            <a:extLst>
              <a:ext uri="{FF2B5EF4-FFF2-40B4-BE49-F238E27FC236}">
                <a16:creationId xmlns:a16="http://schemas.microsoft.com/office/drawing/2014/main" id="{72BFBA19-569D-426B-9EBA-81F801F7CD02}"/>
              </a:ext>
            </a:extLst>
          </p:cNvPr>
          <p:cNvGrpSpPr/>
          <p:nvPr/>
        </p:nvGrpSpPr>
        <p:grpSpPr>
          <a:xfrm>
            <a:off x="6868780" y="1437243"/>
            <a:ext cx="4220164" cy="4696603"/>
            <a:chOff x="6407223" y="1437243"/>
            <a:chExt cx="4220164" cy="4696603"/>
          </a:xfrm>
        </p:grpSpPr>
        <p:pic>
          <p:nvPicPr>
            <p:cNvPr id="8" name="Imagem 7">
              <a:extLst>
                <a:ext uri="{FF2B5EF4-FFF2-40B4-BE49-F238E27FC236}">
                  <a16:creationId xmlns:a16="http://schemas.microsoft.com/office/drawing/2014/main" id="{087F64D6-66F5-4468-B804-6891C54D6BA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926408" y="1437243"/>
              <a:ext cx="3181794" cy="1333686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88900" cap="sq">
              <a:solidFill>
                <a:srgbClr val="FFFFFF"/>
              </a:solidFill>
              <a:miter lim="800000"/>
            </a:ln>
            <a:effectLst>
              <a:outerShdw blurRad="55000" dist="18000" dir="54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twoPt" dir="t">
                <a:rot lat="0" lon="0" rev="7200000"/>
              </a:lightRig>
            </a:scene3d>
            <a:sp3d>
              <a:bevelT w="25400" h="19050"/>
              <a:contourClr>
                <a:srgbClr val="FFFFFF"/>
              </a:contourClr>
            </a:sp3d>
          </p:spPr>
        </p:pic>
        <p:pic>
          <p:nvPicPr>
            <p:cNvPr id="9" name="Imagem 8">
              <a:extLst>
                <a:ext uri="{FF2B5EF4-FFF2-40B4-BE49-F238E27FC236}">
                  <a16:creationId xmlns:a16="http://schemas.microsoft.com/office/drawing/2014/main" id="{C4352AC9-5361-4BE3-B7E2-36BDDA8DCC0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407223" y="4819213"/>
              <a:ext cx="4220164" cy="1314633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88900" cap="sq">
              <a:solidFill>
                <a:srgbClr val="FFFFFF"/>
              </a:solidFill>
              <a:miter lim="800000"/>
            </a:ln>
            <a:effectLst>
              <a:outerShdw blurRad="55000" dist="18000" dir="54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twoPt" dir="t">
                <a:rot lat="0" lon="0" rev="7200000"/>
              </a:lightRig>
            </a:scene3d>
            <a:sp3d>
              <a:bevelT w="25400" h="19050"/>
              <a:contourClr>
                <a:srgbClr val="FFFFFF"/>
              </a:contourClr>
            </a:sp3d>
          </p:spPr>
        </p:pic>
        <p:pic>
          <p:nvPicPr>
            <p:cNvPr id="12" name="Imagem 11">
              <a:extLst>
                <a:ext uri="{FF2B5EF4-FFF2-40B4-BE49-F238E27FC236}">
                  <a16:creationId xmlns:a16="http://schemas.microsoft.com/office/drawing/2014/main" id="{9D1399CB-A0FA-4C09-8D85-599F0ADD611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945461" y="3094886"/>
              <a:ext cx="3143689" cy="1400370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88900" cap="sq">
              <a:solidFill>
                <a:srgbClr val="FFFFFF"/>
              </a:solidFill>
              <a:miter lim="800000"/>
            </a:ln>
            <a:effectLst>
              <a:outerShdw blurRad="55000" dist="18000" dir="54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twoPt" dir="t">
                <a:rot lat="0" lon="0" rev="7200000"/>
              </a:lightRig>
            </a:scene3d>
            <a:sp3d>
              <a:bevelT w="25400" h="19050"/>
              <a:contourClr>
                <a:srgbClr val="FFFFFF"/>
              </a:contourClr>
            </a:sp3d>
          </p:spPr>
        </p:pic>
      </p:grpSp>
      <p:grpSp>
        <p:nvGrpSpPr>
          <p:cNvPr id="14" name="Agrupar 13">
            <a:extLst>
              <a:ext uri="{FF2B5EF4-FFF2-40B4-BE49-F238E27FC236}">
                <a16:creationId xmlns:a16="http://schemas.microsoft.com/office/drawing/2014/main" id="{CA953A6E-BC5A-4C2D-853A-BDDEC3DF00D4}"/>
              </a:ext>
            </a:extLst>
          </p:cNvPr>
          <p:cNvGrpSpPr/>
          <p:nvPr/>
        </p:nvGrpSpPr>
        <p:grpSpPr>
          <a:xfrm>
            <a:off x="1564613" y="1437243"/>
            <a:ext cx="3867690" cy="4696603"/>
            <a:chOff x="1186412" y="1616148"/>
            <a:chExt cx="3867690" cy="4696603"/>
          </a:xfrm>
        </p:grpSpPr>
        <p:pic>
          <p:nvPicPr>
            <p:cNvPr id="3" name="Imagem 2">
              <a:extLst>
                <a:ext uri="{FF2B5EF4-FFF2-40B4-BE49-F238E27FC236}">
                  <a16:creationId xmlns:a16="http://schemas.microsoft.com/office/drawing/2014/main" id="{C24A8636-7AA5-4E3F-8F3E-EC456EDD24E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519834" y="1616148"/>
              <a:ext cx="3200847" cy="1428949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88900" cap="sq">
              <a:solidFill>
                <a:srgbClr val="FFFFFF"/>
              </a:solidFill>
              <a:miter lim="800000"/>
            </a:ln>
            <a:effectLst>
              <a:outerShdw blurRad="55000" dist="18000" dir="54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twoPt" dir="t">
                <a:rot lat="0" lon="0" rev="7200000"/>
              </a:lightRig>
            </a:scene3d>
            <a:sp3d>
              <a:bevelT w="25400" h="19050"/>
              <a:contourClr>
                <a:srgbClr val="FFFFFF"/>
              </a:contourClr>
            </a:sp3d>
          </p:spPr>
        </p:pic>
        <p:pic>
          <p:nvPicPr>
            <p:cNvPr id="7" name="Imagem 6">
              <a:extLst>
                <a:ext uri="{FF2B5EF4-FFF2-40B4-BE49-F238E27FC236}">
                  <a16:creationId xmlns:a16="http://schemas.microsoft.com/office/drawing/2014/main" id="{156A631F-FA52-4E33-84D3-110F7A260AA5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334070" y="3330948"/>
              <a:ext cx="3572374" cy="1343212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88900" cap="sq">
              <a:solidFill>
                <a:srgbClr val="FFFFFF"/>
              </a:solidFill>
              <a:miter lim="800000"/>
            </a:ln>
            <a:effectLst>
              <a:outerShdw blurRad="55000" dist="18000" dir="54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twoPt" dir="t">
                <a:rot lat="0" lon="0" rev="7200000"/>
              </a:lightRig>
            </a:scene3d>
            <a:sp3d>
              <a:bevelT w="25400" h="19050"/>
              <a:contourClr>
                <a:srgbClr val="FFFFFF"/>
              </a:contourClr>
            </a:sp3d>
          </p:spPr>
        </p:pic>
        <p:pic>
          <p:nvPicPr>
            <p:cNvPr id="13" name="Imagem 12">
              <a:extLst>
                <a:ext uri="{FF2B5EF4-FFF2-40B4-BE49-F238E27FC236}">
                  <a16:creationId xmlns:a16="http://schemas.microsoft.com/office/drawing/2014/main" id="{78C13153-AB68-4CD2-A4C8-DF1C5F0719C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186412" y="4960012"/>
              <a:ext cx="3867690" cy="1352739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88900" cap="sq">
              <a:solidFill>
                <a:srgbClr val="FFFFFF"/>
              </a:solidFill>
              <a:miter lim="800000"/>
            </a:ln>
            <a:effectLst>
              <a:outerShdw blurRad="55000" dist="18000" dir="54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twoPt" dir="t">
                <a:rot lat="0" lon="0" rev="7200000"/>
              </a:lightRig>
            </a:scene3d>
            <a:sp3d>
              <a:bevelT w="25400" h="19050"/>
              <a:contourClr>
                <a:srgbClr val="FFFFFF"/>
              </a:contourClr>
            </a:sp3d>
          </p:spPr>
        </p:pic>
      </p:grpSp>
    </p:spTree>
    <p:extLst>
      <p:ext uri="{BB962C8B-B14F-4D97-AF65-F5344CB8AC3E}">
        <p14:creationId xmlns:p14="http://schemas.microsoft.com/office/powerpoint/2010/main" val="23581444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8" descr="https://www.lista11.com.br/adm/fotos/estabelecimentos/3455/premium-chopp-distribuidora-de-bebidas-aluguel-de-maquina-de-chopp-em-caieiras-delivery-de-bebidas-cerveja-artesanal-em-franco-da-rocha-centro_3455_11619_170801538065ce3f1445c2e.jpeg">
            <a:extLst>
              <a:ext uri="{FF2B5EF4-FFF2-40B4-BE49-F238E27FC236}">
                <a16:creationId xmlns:a16="http://schemas.microsoft.com/office/drawing/2014/main" id="{CA8DB991-8025-4F8D-B669-A9ECB2A129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CD734625-5F5C-42E5-9CC6-47887DA2096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8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4" name="Picture 6" descr="https://bkpsitecpsnew.blob.core.windows.net/uploadsitecps/sites/1/2012/05/Logo-Fatec-1200x800-1.jpg">
            <a:extLst>
              <a:ext uri="{FF2B5EF4-FFF2-40B4-BE49-F238E27FC236}">
                <a16:creationId xmlns:a16="http://schemas.microsoft.com/office/drawing/2014/main" id="{D108BC2C-C337-4E40-AA91-CA2A272D2C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62744" y="-237552"/>
            <a:ext cx="2324912" cy="1549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Google Shape;99;p14">
            <a:extLst>
              <a:ext uri="{FF2B5EF4-FFF2-40B4-BE49-F238E27FC236}">
                <a16:creationId xmlns:a16="http://schemas.microsoft.com/office/drawing/2014/main" id="{7E4025E5-A6C5-4B71-B5DA-86CAA685A210}"/>
              </a:ext>
            </a:extLst>
          </p:cNvPr>
          <p:cNvSpPr txBox="1">
            <a:spLocks/>
          </p:cNvSpPr>
          <p:nvPr/>
        </p:nvSpPr>
        <p:spPr>
          <a:xfrm>
            <a:off x="838200" y="525371"/>
            <a:ext cx="10515600" cy="7870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2400"/>
              <a:buFont typeface="Arial"/>
              <a:buNone/>
            </a:pPr>
            <a:r>
              <a:rPr lang="pt-BR" b="1" dirty="0">
                <a:ln>
                  <a:solidFill>
                    <a:schemeClr val="bg1"/>
                  </a:solidFill>
                </a:ln>
                <a:gradFill flip="none" rotWithShape="1">
                  <a:gsLst>
                    <a:gs pos="0">
                      <a:srgbClr val="FF0000">
                        <a:shade val="30000"/>
                        <a:satMod val="115000"/>
                      </a:srgbClr>
                    </a:gs>
                    <a:gs pos="50000">
                      <a:srgbClr val="FF0000">
                        <a:shade val="67500"/>
                        <a:satMod val="115000"/>
                      </a:srgbClr>
                    </a:gs>
                    <a:gs pos="100000">
                      <a:srgbClr val="FF0000">
                        <a:shade val="100000"/>
                        <a:satMod val="115000"/>
                      </a:srgbClr>
                    </a:gs>
                  </a:gsLst>
                  <a:lin ang="16200000" scaled="1"/>
                  <a:tileRect/>
                </a:gradFill>
                <a:sym typeface="Arial"/>
              </a:rPr>
              <a:t>Time do Projeto</a:t>
            </a:r>
          </a:p>
        </p:txBody>
      </p:sp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E2428C24-DCAA-40F4-A039-E7B0C6C87A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9034938"/>
              </p:ext>
            </p:extLst>
          </p:nvPr>
        </p:nvGraphicFramePr>
        <p:xfrm>
          <a:off x="844826" y="1825625"/>
          <a:ext cx="10051774" cy="3940965"/>
        </p:xfrm>
        <a:graphic>
          <a:graphicData uri="http://schemas.openxmlformats.org/drawingml/2006/table">
            <a:tbl>
              <a:tblPr firstRow="1" bandRow="1">
                <a:noFill/>
                <a:tableStyleId>{52E8CCAD-9FAD-4990-8A25-C891E918DD11}</a:tableStyleId>
              </a:tblPr>
              <a:tblGrid>
                <a:gridCol w="2489574">
                  <a:extLst>
                    <a:ext uri="{9D8B030D-6E8A-4147-A177-3AD203B41FA5}">
                      <a16:colId xmlns:a16="http://schemas.microsoft.com/office/drawing/2014/main" val="911721064"/>
                    </a:ext>
                  </a:extLst>
                </a:gridCol>
                <a:gridCol w="2496200">
                  <a:extLst>
                    <a:ext uri="{9D8B030D-6E8A-4147-A177-3AD203B41FA5}">
                      <a16:colId xmlns:a16="http://schemas.microsoft.com/office/drawing/2014/main" val="4163872185"/>
                    </a:ext>
                  </a:extLst>
                </a:gridCol>
                <a:gridCol w="5066000">
                  <a:extLst>
                    <a:ext uri="{9D8B030D-6E8A-4147-A177-3AD203B41FA5}">
                      <a16:colId xmlns:a16="http://schemas.microsoft.com/office/drawing/2014/main" val="2595936240"/>
                    </a:ext>
                  </a:extLst>
                </a:gridCol>
              </a:tblGrid>
              <a:tr h="4553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pt-BR" sz="2000" b="1" i="0" u="none" strike="noStrike" cap="none" dirty="0">
                          <a:ln>
                            <a:noFill/>
                          </a:ln>
                          <a:gradFill flip="none" rotWithShape="1">
                            <a:gsLst>
                              <a:gs pos="0">
                                <a:srgbClr val="FF0000">
                                  <a:shade val="30000"/>
                                  <a:satMod val="115000"/>
                                </a:srgbClr>
                              </a:gs>
                              <a:gs pos="50000">
                                <a:srgbClr val="FF0000">
                                  <a:shade val="67500"/>
                                  <a:satMod val="115000"/>
                                </a:srgbClr>
                              </a:gs>
                              <a:gs pos="100000">
                                <a:srgbClr val="FF0000">
                                  <a:shade val="100000"/>
                                  <a:satMod val="115000"/>
                                </a:srgbClr>
                              </a:gs>
                            </a:gsLst>
                            <a:lin ang="16200000" scaled="1"/>
                            <a:tileRect/>
                          </a:gra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Nome</a:t>
                      </a:r>
                      <a:endParaRPr sz="2000" b="1" i="0" u="none" strike="noStrike" cap="none" dirty="0">
                        <a:ln>
                          <a:noFill/>
                        </a:ln>
                        <a:gradFill flip="none" rotWithShape="1">
                          <a:gsLst>
                            <a:gs pos="0">
                              <a:srgbClr val="FF0000">
                                <a:shade val="30000"/>
                                <a:satMod val="115000"/>
                              </a:srgbClr>
                            </a:gs>
                            <a:gs pos="50000">
                              <a:srgbClr val="FF0000">
                                <a:shade val="67500"/>
                                <a:satMod val="115000"/>
                              </a:srgbClr>
                            </a:gs>
                            <a:gs pos="100000">
                              <a:srgbClr val="FF0000">
                                <a:shade val="100000"/>
                                <a:satMod val="115000"/>
                              </a:srgbClr>
                            </a:gs>
                          </a:gsLst>
                          <a:lin ang="16200000" scaled="1"/>
                          <a:tileRect/>
                        </a:gra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12125" marR="212125" marT="45725" marB="45725" anchor="ctr"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pt-BR" sz="2000" b="1" i="0" u="none" strike="noStrike" cap="none" dirty="0">
                          <a:ln>
                            <a:noFill/>
                          </a:ln>
                          <a:gradFill flip="none" rotWithShape="1">
                            <a:gsLst>
                              <a:gs pos="0">
                                <a:srgbClr val="FF0000">
                                  <a:shade val="30000"/>
                                  <a:satMod val="115000"/>
                                </a:srgbClr>
                              </a:gs>
                              <a:gs pos="50000">
                                <a:srgbClr val="FF0000">
                                  <a:shade val="67500"/>
                                  <a:satMod val="115000"/>
                                </a:srgbClr>
                              </a:gs>
                              <a:gs pos="100000">
                                <a:srgbClr val="FF0000">
                                  <a:shade val="100000"/>
                                  <a:satMod val="115000"/>
                                </a:srgbClr>
                              </a:gs>
                            </a:gsLst>
                            <a:lin ang="16200000" scaled="1"/>
                            <a:tileRect/>
                          </a:gra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Função</a:t>
                      </a:r>
                      <a:endParaRPr sz="2000" b="1" i="0" u="none" strike="noStrike" cap="none" dirty="0">
                        <a:ln>
                          <a:noFill/>
                        </a:ln>
                        <a:gradFill flip="none" rotWithShape="1">
                          <a:gsLst>
                            <a:gs pos="0">
                              <a:srgbClr val="FF0000">
                                <a:shade val="30000"/>
                                <a:satMod val="115000"/>
                              </a:srgbClr>
                            </a:gs>
                            <a:gs pos="50000">
                              <a:srgbClr val="FF0000">
                                <a:shade val="67500"/>
                                <a:satMod val="115000"/>
                              </a:srgbClr>
                            </a:gs>
                            <a:gs pos="100000">
                              <a:srgbClr val="FF0000">
                                <a:shade val="100000"/>
                                <a:satMod val="115000"/>
                              </a:srgbClr>
                            </a:gs>
                          </a:gsLst>
                          <a:lin ang="16200000" scaled="1"/>
                          <a:tileRect/>
                        </a:gra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12125" marR="212125" marT="45725" marB="45725" anchor="ctr"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pt-BR" sz="2000" b="1" i="0" u="none" strike="noStrike" cap="none" dirty="0">
                          <a:ln>
                            <a:noFill/>
                          </a:ln>
                          <a:gradFill flip="none" rotWithShape="1">
                            <a:gsLst>
                              <a:gs pos="0">
                                <a:srgbClr val="FF0000">
                                  <a:shade val="30000"/>
                                  <a:satMod val="115000"/>
                                </a:srgbClr>
                              </a:gs>
                              <a:gs pos="50000">
                                <a:srgbClr val="FF0000">
                                  <a:shade val="67500"/>
                                  <a:satMod val="115000"/>
                                </a:srgbClr>
                              </a:gs>
                              <a:gs pos="100000">
                                <a:srgbClr val="FF0000">
                                  <a:shade val="100000"/>
                                  <a:satMod val="115000"/>
                                </a:srgbClr>
                              </a:gs>
                            </a:gsLst>
                            <a:lin ang="16200000" scaled="1"/>
                            <a:tileRect/>
                          </a:gra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Principais Responsabilidades</a:t>
                      </a:r>
                      <a:endParaRPr sz="2000" b="1" i="0" u="none" strike="noStrike" cap="none" dirty="0">
                        <a:ln>
                          <a:noFill/>
                        </a:ln>
                        <a:gradFill flip="none" rotWithShape="1">
                          <a:gsLst>
                            <a:gs pos="0">
                              <a:srgbClr val="FF0000">
                                <a:shade val="30000"/>
                                <a:satMod val="115000"/>
                              </a:srgbClr>
                            </a:gs>
                            <a:gs pos="50000">
                              <a:srgbClr val="FF0000">
                                <a:shade val="67500"/>
                                <a:satMod val="115000"/>
                              </a:srgbClr>
                            </a:gs>
                            <a:gs pos="100000">
                              <a:srgbClr val="FF0000">
                                <a:shade val="100000"/>
                                <a:satMod val="115000"/>
                              </a:srgbClr>
                            </a:gs>
                          </a:gsLst>
                          <a:lin ang="16200000" scaled="1"/>
                          <a:tileRect/>
                        </a:gra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12125" marR="212125" marT="45725" marB="45725" anchor="ctr"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82139622"/>
                  </a:ext>
                </a:extLst>
              </a:tr>
              <a:tr h="13156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i="0" u="none" strike="noStrike" cap="none" dirty="0">
                          <a:ln>
                            <a:noFill/>
                          </a:ln>
                          <a:gradFill flip="none" rotWithShape="1">
                            <a:gsLst>
                              <a:gs pos="0">
                                <a:srgbClr val="FF0000">
                                  <a:shade val="30000"/>
                                  <a:satMod val="115000"/>
                                </a:srgbClr>
                              </a:gs>
                              <a:gs pos="50000">
                                <a:srgbClr val="FF0000">
                                  <a:shade val="67500"/>
                                  <a:satMod val="115000"/>
                                </a:srgbClr>
                              </a:gs>
                              <a:gs pos="100000">
                                <a:srgbClr val="FF0000">
                                  <a:shade val="100000"/>
                                  <a:satMod val="115000"/>
                                </a:srgbClr>
                              </a:gs>
                            </a:gsLst>
                            <a:lin ang="16200000" scaled="1"/>
                            <a:tileRect/>
                          </a:gra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Arthur Nunes</a:t>
                      </a:r>
                    </a:p>
                  </a:txBody>
                  <a:tcPr marL="91450" marR="91450" marT="45725" marB="45725"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pt-BR" sz="1400" b="0" i="0" u="none" strike="noStrike" cap="none" dirty="0" err="1">
                          <a:ln>
                            <a:noFill/>
                          </a:ln>
                          <a:gradFill flip="none" rotWithShape="1">
                            <a:gsLst>
                              <a:gs pos="0">
                                <a:srgbClr val="FF0000">
                                  <a:shade val="30000"/>
                                  <a:satMod val="115000"/>
                                </a:srgbClr>
                              </a:gs>
                              <a:gs pos="50000">
                                <a:srgbClr val="FF0000">
                                  <a:shade val="67500"/>
                                  <a:satMod val="115000"/>
                                </a:srgbClr>
                              </a:gs>
                              <a:gs pos="100000">
                                <a:srgbClr val="FF0000">
                                  <a:shade val="100000"/>
                                  <a:satMod val="115000"/>
                                </a:srgbClr>
                              </a:gs>
                            </a:gsLst>
                            <a:lin ang="16200000" scaled="1"/>
                            <a:tileRect/>
                          </a:gra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Sponsor</a:t>
                      </a:r>
                      <a:r>
                        <a:rPr lang="pt-BR" sz="1400" b="0" i="0" u="none" strike="noStrike" cap="none" dirty="0">
                          <a:ln>
                            <a:noFill/>
                          </a:ln>
                          <a:gradFill flip="none" rotWithShape="1">
                            <a:gsLst>
                              <a:gs pos="0">
                                <a:srgbClr val="FF0000">
                                  <a:shade val="30000"/>
                                  <a:satMod val="115000"/>
                                </a:srgbClr>
                              </a:gs>
                              <a:gs pos="50000">
                                <a:srgbClr val="FF0000">
                                  <a:shade val="67500"/>
                                  <a:satMod val="115000"/>
                                </a:srgbClr>
                              </a:gs>
                              <a:gs pos="100000">
                                <a:srgbClr val="FF0000">
                                  <a:shade val="100000"/>
                                  <a:satMod val="115000"/>
                                </a:srgbClr>
                              </a:gs>
                            </a:gsLst>
                            <a:lin ang="16200000" scaled="1"/>
                            <a:tileRect/>
                          </a:gra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do Projeto</a:t>
                      </a:r>
                      <a:endParaRPr sz="1400" b="0" i="0" u="none" strike="noStrike" cap="none" dirty="0">
                        <a:ln>
                          <a:noFill/>
                        </a:ln>
                        <a:gradFill flip="none" rotWithShape="1">
                          <a:gsLst>
                            <a:gs pos="0">
                              <a:srgbClr val="FF0000">
                                <a:shade val="30000"/>
                                <a:satMod val="115000"/>
                              </a:srgbClr>
                            </a:gs>
                            <a:gs pos="50000">
                              <a:srgbClr val="FF0000">
                                <a:shade val="67500"/>
                                <a:satMod val="115000"/>
                              </a:srgbClr>
                            </a:gs>
                            <a:gs pos="100000">
                              <a:srgbClr val="FF0000">
                                <a:shade val="100000"/>
                                <a:satMod val="115000"/>
                              </a:srgbClr>
                            </a:gs>
                          </a:gsLst>
                          <a:lin ang="16200000" scaled="1"/>
                          <a:tileRect/>
                        </a:gradFill>
                        <a:latin typeface="Calibri"/>
                        <a:ea typeface="Calibri"/>
                        <a:cs typeface="Calibri"/>
                        <a:sym typeface="Arial"/>
                      </a:endParaRPr>
                    </a:p>
                  </a:txBody>
                  <a:tcPr marL="91450" marR="91450" marT="45725" marB="45725"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1" indent="0" algn="l" rtl="0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pt-BR" sz="1400" b="0" i="0" u="none" strike="noStrike" cap="none">
                          <a:ln>
                            <a:noFill/>
                          </a:ln>
                          <a:gradFill flip="none" rotWithShape="1">
                            <a:gsLst>
                              <a:gs pos="0">
                                <a:srgbClr val="FF0000">
                                  <a:shade val="30000"/>
                                  <a:satMod val="115000"/>
                                </a:srgbClr>
                              </a:gs>
                              <a:gs pos="50000">
                                <a:srgbClr val="FF0000">
                                  <a:shade val="67500"/>
                                  <a:satMod val="115000"/>
                                </a:srgbClr>
                              </a:gs>
                              <a:gs pos="100000">
                                <a:srgbClr val="FF0000">
                                  <a:shade val="100000"/>
                                  <a:satMod val="115000"/>
                                </a:srgbClr>
                              </a:gs>
                            </a:gsLst>
                            <a:lin ang="16200000" scaled="1"/>
                            <a:tileRect/>
                          </a:gra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Ponto Focal para o Projeto</a:t>
                      </a:r>
                      <a:endParaRPr sz="1400" b="0" i="0" u="none" strike="noStrike" cap="none">
                        <a:ln>
                          <a:noFill/>
                        </a:ln>
                        <a:gradFill flip="none" rotWithShape="1">
                          <a:gsLst>
                            <a:gs pos="0">
                              <a:srgbClr val="FF0000">
                                <a:shade val="30000"/>
                                <a:satMod val="115000"/>
                              </a:srgbClr>
                            </a:gs>
                            <a:gs pos="50000">
                              <a:srgbClr val="FF0000">
                                <a:shade val="67500"/>
                                <a:satMod val="115000"/>
                              </a:srgbClr>
                            </a:gs>
                            <a:gs pos="100000">
                              <a:srgbClr val="FF0000">
                                <a:shade val="100000"/>
                                <a:satMod val="115000"/>
                              </a:srgbClr>
                            </a:gs>
                          </a:gsLst>
                          <a:lin ang="16200000" scaled="1"/>
                          <a:tileRect/>
                        </a:gradFill>
                        <a:latin typeface="Calibri"/>
                        <a:ea typeface="Calibri"/>
                        <a:cs typeface="Calibri"/>
                        <a:sym typeface="Arial"/>
                      </a:endParaRPr>
                    </a:p>
                    <a:p>
                      <a:pPr marL="0" marR="0" lvl="1" indent="0" algn="l" rtl="0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pt-BR" sz="1400" b="0" i="0" u="none" strike="noStrike" cap="none">
                          <a:ln>
                            <a:noFill/>
                          </a:ln>
                          <a:gradFill flip="none" rotWithShape="1">
                            <a:gsLst>
                              <a:gs pos="0">
                                <a:srgbClr val="FF0000">
                                  <a:shade val="30000"/>
                                  <a:satMod val="115000"/>
                                </a:srgbClr>
                              </a:gs>
                              <a:gs pos="50000">
                                <a:srgbClr val="FF0000">
                                  <a:shade val="67500"/>
                                  <a:satMod val="115000"/>
                                </a:srgbClr>
                              </a:gs>
                              <a:gs pos="100000">
                                <a:srgbClr val="FF0000">
                                  <a:shade val="100000"/>
                                  <a:satMod val="115000"/>
                                </a:srgbClr>
                              </a:gs>
                            </a:gsLst>
                            <a:lin ang="16200000" scaled="1"/>
                            <a:tileRect/>
                          </a:gra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Aprovar o desenvolvimento de Projetos</a:t>
                      </a:r>
                      <a:endParaRPr sz="1400" b="0" i="0" u="none" strike="noStrike" cap="none">
                        <a:ln>
                          <a:noFill/>
                        </a:ln>
                        <a:gradFill flip="none" rotWithShape="1">
                          <a:gsLst>
                            <a:gs pos="0">
                              <a:srgbClr val="FF0000">
                                <a:shade val="30000"/>
                                <a:satMod val="115000"/>
                              </a:srgbClr>
                            </a:gs>
                            <a:gs pos="50000">
                              <a:srgbClr val="FF0000">
                                <a:shade val="67500"/>
                                <a:satMod val="115000"/>
                              </a:srgbClr>
                            </a:gs>
                            <a:gs pos="100000">
                              <a:srgbClr val="FF0000">
                                <a:shade val="100000"/>
                                <a:satMod val="115000"/>
                              </a:srgbClr>
                            </a:gs>
                          </a:gsLst>
                          <a:lin ang="16200000" scaled="1"/>
                          <a:tileRect/>
                        </a:gradFill>
                        <a:latin typeface="Calibri"/>
                        <a:ea typeface="Calibri"/>
                        <a:cs typeface="Calibri"/>
                        <a:sym typeface="Arial"/>
                      </a:endParaRPr>
                    </a:p>
                    <a:p>
                      <a:pPr marL="0" marR="0" lvl="1" indent="0" algn="l" rtl="0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pt-BR" sz="1400" b="0" i="0" u="none" strike="noStrike" cap="none">
                          <a:ln>
                            <a:noFill/>
                          </a:ln>
                          <a:gradFill flip="none" rotWithShape="1">
                            <a:gsLst>
                              <a:gs pos="0">
                                <a:srgbClr val="FF0000">
                                  <a:shade val="30000"/>
                                  <a:satMod val="115000"/>
                                </a:srgbClr>
                              </a:gs>
                              <a:gs pos="50000">
                                <a:srgbClr val="FF0000">
                                  <a:shade val="67500"/>
                                  <a:satMod val="115000"/>
                                </a:srgbClr>
                              </a:gs>
                              <a:gs pos="100000">
                                <a:srgbClr val="FF0000">
                                  <a:shade val="100000"/>
                                  <a:satMod val="115000"/>
                                </a:srgbClr>
                              </a:gs>
                            </a:gsLst>
                            <a:lin ang="16200000" scaled="1"/>
                            <a:tileRect/>
                          </a:gra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Participar de reuniões gerenciais periódicas</a:t>
                      </a:r>
                      <a:endParaRPr sz="1400" b="0" i="0" u="none" strike="noStrike" cap="none">
                        <a:ln>
                          <a:noFill/>
                        </a:ln>
                        <a:gradFill flip="none" rotWithShape="1">
                          <a:gsLst>
                            <a:gs pos="0">
                              <a:srgbClr val="FF0000">
                                <a:shade val="30000"/>
                                <a:satMod val="115000"/>
                              </a:srgbClr>
                            </a:gs>
                            <a:gs pos="50000">
                              <a:srgbClr val="FF0000">
                                <a:shade val="67500"/>
                                <a:satMod val="115000"/>
                              </a:srgbClr>
                            </a:gs>
                            <a:gs pos="100000">
                              <a:srgbClr val="FF0000">
                                <a:shade val="100000"/>
                                <a:satMod val="115000"/>
                              </a:srgbClr>
                            </a:gs>
                          </a:gsLst>
                          <a:lin ang="16200000" scaled="1"/>
                          <a:tileRect/>
                        </a:gradFill>
                        <a:latin typeface="Calibri"/>
                        <a:ea typeface="Calibri"/>
                        <a:cs typeface="Calibri"/>
                        <a:sym typeface="Arial"/>
                      </a:endParaRPr>
                    </a:p>
                    <a:p>
                      <a:pPr marL="0" marR="0" lvl="1" indent="0" algn="l" rtl="0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pt-BR" sz="1400" b="0" i="0" u="none" strike="noStrike" cap="none">
                          <a:ln>
                            <a:noFill/>
                          </a:ln>
                          <a:gradFill flip="none" rotWithShape="1">
                            <a:gsLst>
                              <a:gs pos="0">
                                <a:srgbClr val="FF0000">
                                  <a:shade val="30000"/>
                                  <a:satMod val="115000"/>
                                </a:srgbClr>
                              </a:gs>
                              <a:gs pos="50000">
                                <a:srgbClr val="FF0000">
                                  <a:shade val="67500"/>
                                  <a:satMod val="115000"/>
                                </a:srgbClr>
                              </a:gs>
                              <a:gs pos="100000">
                                <a:srgbClr val="FF0000">
                                  <a:shade val="100000"/>
                                  <a:satMod val="115000"/>
                                </a:srgbClr>
                              </a:gs>
                            </a:gsLst>
                            <a:lin ang="16200000" scaled="1"/>
                            <a:tileRect/>
                          </a:gra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Aprovar artefatos gerados</a:t>
                      </a:r>
                      <a:endParaRPr sz="1400" b="0" i="0" u="none" strike="noStrike" cap="none">
                        <a:ln>
                          <a:noFill/>
                        </a:ln>
                        <a:gradFill flip="none" rotWithShape="1">
                          <a:gsLst>
                            <a:gs pos="0">
                              <a:srgbClr val="FF0000">
                                <a:shade val="30000"/>
                                <a:satMod val="115000"/>
                              </a:srgbClr>
                            </a:gs>
                            <a:gs pos="50000">
                              <a:srgbClr val="FF0000">
                                <a:shade val="67500"/>
                                <a:satMod val="115000"/>
                              </a:srgbClr>
                            </a:gs>
                            <a:gs pos="100000">
                              <a:srgbClr val="FF0000">
                                <a:shade val="100000"/>
                                <a:satMod val="115000"/>
                              </a:srgbClr>
                            </a:gs>
                          </a:gsLst>
                          <a:lin ang="16200000" scaled="1"/>
                          <a:tileRect/>
                        </a:gradFill>
                        <a:latin typeface="Calibri"/>
                        <a:ea typeface="Calibri"/>
                        <a:cs typeface="Calibri"/>
                        <a:sym typeface="Arial"/>
                      </a:endParaRPr>
                    </a:p>
                    <a:p>
                      <a:pPr marL="0" marR="0" lvl="1" indent="0" algn="l" rtl="0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pt-BR" sz="1400" b="0" i="0" u="none" strike="noStrike" cap="none">
                          <a:ln>
                            <a:noFill/>
                          </a:ln>
                          <a:gradFill flip="none" rotWithShape="1">
                            <a:gsLst>
                              <a:gs pos="0">
                                <a:srgbClr val="FF0000">
                                  <a:shade val="30000"/>
                                  <a:satMod val="115000"/>
                                </a:srgbClr>
                              </a:gs>
                              <a:gs pos="50000">
                                <a:srgbClr val="FF0000">
                                  <a:shade val="67500"/>
                                  <a:satMod val="115000"/>
                                </a:srgbClr>
                              </a:gs>
                              <a:gs pos="100000">
                                <a:srgbClr val="FF0000">
                                  <a:shade val="100000"/>
                                  <a:satMod val="115000"/>
                                </a:srgbClr>
                              </a:gs>
                            </a:gsLst>
                            <a:lin ang="16200000" scaled="1"/>
                            <a:tileRect/>
                          </a:gra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Resolver impedimentos</a:t>
                      </a:r>
                      <a:endParaRPr sz="1400" b="0" i="0" u="none" strike="noStrike" cap="none">
                        <a:ln>
                          <a:noFill/>
                        </a:ln>
                        <a:gradFill flip="none" rotWithShape="1">
                          <a:gsLst>
                            <a:gs pos="0">
                              <a:srgbClr val="FF0000">
                                <a:shade val="30000"/>
                                <a:satMod val="115000"/>
                              </a:srgbClr>
                            </a:gs>
                            <a:gs pos="50000">
                              <a:srgbClr val="FF0000">
                                <a:shade val="67500"/>
                                <a:satMod val="115000"/>
                              </a:srgbClr>
                            </a:gs>
                            <a:gs pos="100000">
                              <a:srgbClr val="FF0000">
                                <a:shade val="100000"/>
                                <a:satMod val="115000"/>
                              </a:srgbClr>
                            </a:gs>
                          </a:gsLst>
                          <a:lin ang="16200000" scaled="1"/>
                          <a:tileRect/>
                        </a:gradFill>
                        <a:latin typeface="Calibri"/>
                        <a:ea typeface="Calibri"/>
                        <a:cs typeface="Calibri"/>
                        <a:sym typeface="Arial"/>
                      </a:endParaRPr>
                    </a:p>
                  </a:txBody>
                  <a:tcPr marL="91450" marR="91450" marT="45725" marB="45725"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23204760"/>
                  </a:ext>
                </a:extLst>
              </a:tr>
              <a:tr h="1072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pt-BR" sz="1400" b="0" i="0" u="none" strike="noStrike" cap="none" dirty="0">
                          <a:ln>
                            <a:noFill/>
                          </a:ln>
                          <a:gradFill flip="none" rotWithShape="1">
                            <a:gsLst>
                              <a:gs pos="0">
                                <a:srgbClr val="FF0000">
                                  <a:shade val="30000"/>
                                  <a:satMod val="115000"/>
                                </a:srgbClr>
                              </a:gs>
                              <a:gs pos="50000">
                                <a:srgbClr val="FF0000">
                                  <a:shade val="67500"/>
                                  <a:satMod val="115000"/>
                                </a:srgbClr>
                              </a:gs>
                              <a:gs pos="100000">
                                <a:srgbClr val="FF0000">
                                  <a:shade val="100000"/>
                                  <a:satMod val="115000"/>
                                </a:srgbClr>
                              </a:gs>
                            </a:gsLst>
                            <a:lin ang="16200000" scaled="1"/>
                            <a:tileRect/>
                          </a:gra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Bruno  Araujo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pt-BR" sz="1400" b="0" i="0" u="none" strike="noStrike" cap="none" dirty="0">
                          <a:ln>
                            <a:noFill/>
                          </a:ln>
                          <a:gradFill flip="none" rotWithShape="1">
                            <a:gsLst>
                              <a:gs pos="0">
                                <a:srgbClr val="FF0000">
                                  <a:shade val="30000"/>
                                  <a:satMod val="115000"/>
                                </a:srgbClr>
                              </a:gs>
                              <a:gs pos="50000">
                                <a:srgbClr val="FF0000">
                                  <a:shade val="67500"/>
                                  <a:satMod val="115000"/>
                                </a:srgbClr>
                              </a:gs>
                              <a:gs pos="100000">
                                <a:srgbClr val="FF0000">
                                  <a:shade val="100000"/>
                                  <a:satMod val="115000"/>
                                </a:srgbClr>
                              </a:gs>
                            </a:gsLst>
                            <a:lin ang="16200000" scaled="1"/>
                            <a:tileRect/>
                          </a:gra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Caio </a:t>
                      </a:r>
                      <a:r>
                        <a:rPr lang="pt-BR" sz="1400" b="0" i="0" u="none" strike="noStrike" cap="none" dirty="0" err="1">
                          <a:ln>
                            <a:noFill/>
                          </a:ln>
                          <a:gradFill flip="none" rotWithShape="1">
                            <a:gsLst>
                              <a:gs pos="0">
                                <a:srgbClr val="FF0000">
                                  <a:shade val="30000"/>
                                  <a:satMod val="115000"/>
                                </a:srgbClr>
                              </a:gs>
                              <a:gs pos="50000">
                                <a:srgbClr val="FF0000">
                                  <a:shade val="67500"/>
                                  <a:satMod val="115000"/>
                                </a:srgbClr>
                              </a:gs>
                              <a:gs pos="100000">
                                <a:srgbClr val="FF0000">
                                  <a:shade val="100000"/>
                                  <a:satMod val="115000"/>
                                </a:srgbClr>
                              </a:gs>
                            </a:gsLst>
                            <a:lin ang="16200000" scaled="1"/>
                            <a:tileRect/>
                          </a:gra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Corrá</a:t>
                      </a:r>
                      <a:endParaRPr lang="pt-BR" sz="1400" b="0" i="0" u="none" strike="noStrike" cap="none" dirty="0">
                        <a:ln>
                          <a:noFill/>
                        </a:ln>
                        <a:gradFill flip="none" rotWithShape="1">
                          <a:gsLst>
                            <a:gs pos="0">
                              <a:srgbClr val="FF0000">
                                <a:shade val="30000"/>
                                <a:satMod val="115000"/>
                              </a:srgbClr>
                            </a:gs>
                            <a:gs pos="50000">
                              <a:srgbClr val="FF0000">
                                <a:shade val="67500"/>
                                <a:satMod val="115000"/>
                              </a:srgbClr>
                            </a:gs>
                            <a:gs pos="100000">
                              <a:srgbClr val="FF0000">
                                <a:shade val="100000"/>
                                <a:satMod val="115000"/>
                              </a:srgbClr>
                            </a:gs>
                          </a:gsLst>
                          <a:lin ang="16200000" scaled="1"/>
                          <a:tileRect/>
                        </a:gra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pt-BR" sz="1400" b="0" i="0" u="none" strike="noStrike" cap="none" dirty="0">
                          <a:ln>
                            <a:noFill/>
                          </a:ln>
                          <a:gradFill flip="none" rotWithShape="1">
                            <a:gsLst>
                              <a:gs pos="0">
                                <a:srgbClr val="FF0000">
                                  <a:shade val="30000"/>
                                  <a:satMod val="115000"/>
                                </a:srgbClr>
                              </a:gs>
                              <a:gs pos="50000">
                                <a:srgbClr val="FF0000">
                                  <a:shade val="67500"/>
                                  <a:satMod val="115000"/>
                                </a:srgbClr>
                              </a:gs>
                              <a:gs pos="100000">
                                <a:srgbClr val="FF0000">
                                  <a:shade val="100000"/>
                                  <a:satMod val="115000"/>
                                </a:srgbClr>
                              </a:gs>
                            </a:gsLst>
                            <a:lin ang="16200000" scaled="1"/>
                            <a:tileRect/>
                          </a:gra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Lucas Camelo</a:t>
                      </a:r>
                      <a:endParaRPr sz="1400" b="0" i="0" u="none" strike="noStrike" cap="none" dirty="0">
                        <a:ln>
                          <a:noFill/>
                        </a:ln>
                        <a:gradFill flip="none" rotWithShape="1">
                          <a:gsLst>
                            <a:gs pos="0">
                              <a:srgbClr val="FF0000">
                                <a:shade val="30000"/>
                                <a:satMod val="115000"/>
                              </a:srgbClr>
                            </a:gs>
                            <a:gs pos="50000">
                              <a:srgbClr val="FF0000">
                                <a:shade val="67500"/>
                                <a:satMod val="115000"/>
                              </a:srgbClr>
                            </a:gs>
                            <a:gs pos="100000">
                              <a:srgbClr val="FF0000">
                                <a:shade val="100000"/>
                                <a:satMod val="115000"/>
                              </a:srgbClr>
                            </a:gs>
                          </a:gsLst>
                          <a:lin ang="16200000" scaled="1"/>
                          <a:tileRect/>
                        </a:gradFill>
                        <a:latin typeface="Calibri"/>
                        <a:ea typeface="Calibri"/>
                        <a:cs typeface="Calibri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endParaRPr sz="1400" b="0" i="0" u="none" strike="noStrike" cap="none" dirty="0">
                        <a:ln>
                          <a:noFill/>
                        </a:ln>
                        <a:gradFill flip="none" rotWithShape="1">
                          <a:gsLst>
                            <a:gs pos="0">
                              <a:srgbClr val="FF0000">
                                <a:shade val="30000"/>
                                <a:satMod val="115000"/>
                              </a:srgbClr>
                            </a:gs>
                            <a:gs pos="50000">
                              <a:srgbClr val="FF0000">
                                <a:shade val="67500"/>
                                <a:satMod val="115000"/>
                              </a:srgbClr>
                            </a:gs>
                            <a:gs pos="100000">
                              <a:srgbClr val="FF0000">
                                <a:shade val="100000"/>
                                <a:satMod val="115000"/>
                              </a:srgbClr>
                            </a:gs>
                          </a:gsLst>
                          <a:lin ang="16200000" scaled="1"/>
                          <a:tileRect/>
                        </a:gra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pt-BR" sz="1400" b="0" i="0" u="none" strike="noStrike" cap="none" dirty="0">
                          <a:ln>
                            <a:noFill/>
                          </a:ln>
                          <a:gradFill flip="none" rotWithShape="1">
                            <a:gsLst>
                              <a:gs pos="0">
                                <a:srgbClr val="FF0000">
                                  <a:shade val="30000"/>
                                  <a:satMod val="115000"/>
                                </a:srgbClr>
                              </a:gs>
                              <a:gs pos="50000">
                                <a:srgbClr val="FF0000">
                                  <a:shade val="67500"/>
                                  <a:satMod val="115000"/>
                                </a:srgbClr>
                              </a:gs>
                              <a:gs pos="100000">
                                <a:srgbClr val="FF0000">
                                  <a:shade val="100000"/>
                                  <a:satMod val="115000"/>
                                </a:srgbClr>
                              </a:gs>
                            </a:gsLst>
                            <a:lin ang="16200000" scaled="1"/>
                            <a:tileRect/>
                          </a:gra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Arquiteto de Soluções</a:t>
                      </a:r>
                      <a:endParaRPr sz="1400" b="0" i="0" u="none" strike="noStrike" cap="none" dirty="0">
                        <a:ln>
                          <a:noFill/>
                        </a:ln>
                        <a:gradFill flip="none" rotWithShape="1">
                          <a:gsLst>
                            <a:gs pos="0">
                              <a:srgbClr val="FF0000">
                                <a:shade val="30000"/>
                                <a:satMod val="115000"/>
                              </a:srgbClr>
                            </a:gs>
                            <a:gs pos="50000">
                              <a:srgbClr val="FF0000">
                                <a:shade val="67500"/>
                                <a:satMod val="115000"/>
                              </a:srgbClr>
                            </a:gs>
                            <a:gs pos="100000">
                              <a:srgbClr val="FF0000">
                                <a:shade val="100000"/>
                                <a:satMod val="115000"/>
                              </a:srgbClr>
                            </a:gs>
                          </a:gsLst>
                          <a:lin ang="16200000" scaled="1"/>
                          <a:tileRect/>
                        </a:gradFill>
                        <a:latin typeface="Calibri"/>
                        <a:ea typeface="Calibri"/>
                        <a:cs typeface="Calibri"/>
                        <a:sym typeface="Arial"/>
                      </a:endParaRPr>
                    </a:p>
                  </a:txBody>
                  <a:tcPr marL="91450" marR="91450" marT="45725" marB="45725"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1" indent="0" algn="l" rtl="0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pt-BR" sz="1400" b="0" i="0" u="none" strike="noStrike" cap="none" dirty="0">
                          <a:ln>
                            <a:noFill/>
                          </a:ln>
                          <a:gradFill flip="none" rotWithShape="1">
                            <a:gsLst>
                              <a:gs pos="0">
                                <a:srgbClr val="FF0000">
                                  <a:shade val="30000"/>
                                  <a:satMod val="115000"/>
                                </a:srgbClr>
                              </a:gs>
                              <a:gs pos="50000">
                                <a:srgbClr val="FF0000">
                                  <a:shade val="67500"/>
                                  <a:satMod val="115000"/>
                                </a:srgbClr>
                              </a:gs>
                              <a:gs pos="100000">
                                <a:srgbClr val="FF0000">
                                  <a:shade val="100000"/>
                                  <a:satMod val="115000"/>
                                </a:srgbClr>
                              </a:gs>
                            </a:gsLst>
                            <a:lin ang="16200000" scaled="1"/>
                            <a:tileRect/>
                          </a:gra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Participar de reuniões técnicas e de gerenciamento periódicas</a:t>
                      </a:r>
                      <a:endParaRPr sz="1400" b="0" i="0" u="none" strike="noStrike" cap="none" dirty="0">
                        <a:ln>
                          <a:noFill/>
                        </a:ln>
                        <a:gradFill flip="none" rotWithShape="1">
                          <a:gsLst>
                            <a:gs pos="0">
                              <a:srgbClr val="FF0000">
                                <a:shade val="30000"/>
                                <a:satMod val="115000"/>
                              </a:srgbClr>
                            </a:gs>
                            <a:gs pos="50000">
                              <a:srgbClr val="FF0000">
                                <a:shade val="67500"/>
                                <a:satMod val="115000"/>
                              </a:srgbClr>
                            </a:gs>
                            <a:gs pos="100000">
                              <a:srgbClr val="FF0000">
                                <a:shade val="100000"/>
                                <a:satMod val="115000"/>
                              </a:srgbClr>
                            </a:gs>
                          </a:gsLst>
                          <a:lin ang="16200000" scaled="1"/>
                          <a:tileRect/>
                        </a:gradFill>
                        <a:latin typeface="Calibri"/>
                        <a:ea typeface="Calibri"/>
                        <a:cs typeface="Calibri"/>
                        <a:sym typeface="Arial"/>
                      </a:endParaRPr>
                    </a:p>
                    <a:p>
                      <a:pPr marL="0" marR="0" lvl="1" indent="0" algn="l" rtl="0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pt-BR" sz="1400" b="0" i="0" u="none" strike="noStrike" cap="none" dirty="0">
                          <a:ln>
                            <a:noFill/>
                          </a:ln>
                          <a:gradFill flip="none" rotWithShape="1">
                            <a:gsLst>
                              <a:gs pos="0">
                                <a:srgbClr val="FF0000">
                                  <a:shade val="30000"/>
                                  <a:satMod val="115000"/>
                                </a:srgbClr>
                              </a:gs>
                              <a:gs pos="50000">
                                <a:srgbClr val="FF0000">
                                  <a:shade val="67500"/>
                                  <a:satMod val="115000"/>
                                </a:srgbClr>
                              </a:gs>
                              <a:gs pos="100000">
                                <a:srgbClr val="FF0000">
                                  <a:shade val="100000"/>
                                  <a:satMod val="115000"/>
                                </a:srgbClr>
                              </a:gs>
                            </a:gsLst>
                            <a:lin ang="16200000" scaled="1"/>
                            <a:tileRect/>
                          </a:gra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Responder a pontos de dependência identificados</a:t>
                      </a:r>
                      <a:endParaRPr sz="1400" b="0" i="0" u="none" strike="noStrike" cap="none" dirty="0">
                        <a:ln>
                          <a:noFill/>
                        </a:ln>
                        <a:gradFill flip="none" rotWithShape="1">
                          <a:gsLst>
                            <a:gs pos="0">
                              <a:srgbClr val="FF0000">
                                <a:shade val="30000"/>
                                <a:satMod val="115000"/>
                              </a:srgbClr>
                            </a:gs>
                            <a:gs pos="50000">
                              <a:srgbClr val="FF0000">
                                <a:shade val="67500"/>
                                <a:satMod val="115000"/>
                              </a:srgbClr>
                            </a:gs>
                            <a:gs pos="100000">
                              <a:srgbClr val="FF0000">
                                <a:shade val="100000"/>
                                <a:satMod val="115000"/>
                              </a:srgbClr>
                            </a:gs>
                          </a:gsLst>
                          <a:lin ang="16200000" scaled="1"/>
                          <a:tileRect/>
                        </a:gradFill>
                        <a:latin typeface="Calibri"/>
                        <a:ea typeface="Calibri"/>
                        <a:cs typeface="Calibri"/>
                        <a:sym typeface="Arial"/>
                      </a:endParaRPr>
                    </a:p>
                    <a:p>
                      <a:pPr marL="0" marR="0" lvl="1" indent="0" algn="l" rtl="0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pt-BR" sz="1400" b="0" i="0" u="none" strike="noStrike" cap="none" dirty="0">
                          <a:ln>
                            <a:noFill/>
                          </a:ln>
                          <a:gradFill flip="none" rotWithShape="1">
                            <a:gsLst>
                              <a:gs pos="0">
                                <a:srgbClr val="FF0000">
                                  <a:shade val="30000"/>
                                  <a:satMod val="115000"/>
                                </a:srgbClr>
                              </a:gs>
                              <a:gs pos="50000">
                                <a:srgbClr val="FF0000">
                                  <a:shade val="67500"/>
                                  <a:satMod val="115000"/>
                                </a:srgbClr>
                              </a:gs>
                              <a:gs pos="100000">
                                <a:srgbClr val="FF0000">
                                  <a:shade val="100000"/>
                                  <a:satMod val="115000"/>
                                </a:srgbClr>
                              </a:gs>
                            </a:gsLst>
                            <a:lin ang="16200000" scaled="1"/>
                            <a:tileRect/>
                          </a:gra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Validações e decisões técnicas relacionadas à solução</a:t>
                      </a:r>
                      <a:endParaRPr sz="1400" b="0" i="0" u="none" strike="noStrike" cap="none" dirty="0">
                        <a:ln>
                          <a:noFill/>
                        </a:ln>
                        <a:gradFill flip="none" rotWithShape="1">
                          <a:gsLst>
                            <a:gs pos="0">
                              <a:srgbClr val="FF0000">
                                <a:shade val="30000"/>
                                <a:satMod val="115000"/>
                              </a:srgbClr>
                            </a:gs>
                            <a:gs pos="50000">
                              <a:srgbClr val="FF0000">
                                <a:shade val="67500"/>
                                <a:satMod val="115000"/>
                              </a:srgbClr>
                            </a:gs>
                            <a:gs pos="100000">
                              <a:srgbClr val="FF0000">
                                <a:shade val="100000"/>
                                <a:satMod val="115000"/>
                              </a:srgbClr>
                            </a:gs>
                          </a:gsLst>
                          <a:lin ang="16200000" scaled="1"/>
                          <a:tileRect/>
                        </a:gradFill>
                        <a:latin typeface="Calibri"/>
                        <a:ea typeface="Calibri"/>
                        <a:cs typeface="Calibri"/>
                        <a:sym typeface="Arial"/>
                      </a:endParaRPr>
                    </a:p>
                    <a:p>
                      <a:pPr marL="0" marR="0" lvl="1" indent="0" algn="l" rtl="0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pt-BR" sz="1400" b="0" i="0" u="none" strike="noStrike" cap="none" dirty="0">
                          <a:ln>
                            <a:noFill/>
                          </a:ln>
                          <a:gradFill flip="none" rotWithShape="1">
                            <a:gsLst>
                              <a:gs pos="0">
                                <a:srgbClr val="FF0000">
                                  <a:shade val="30000"/>
                                  <a:satMod val="115000"/>
                                </a:srgbClr>
                              </a:gs>
                              <a:gs pos="50000">
                                <a:srgbClr val="FF0000">
                                  <a:shade val="67500"/>
                                  <a:satMod val="115000"/>
                                </a:srgbClr>
                              </a:gs>
                              <a:gs pos="100000">
                                <a:srgbClr val="FF0000">
                                  <a:shade val="100000"/>
                                  <a:satMod val="115000"/>
                                </a:srgbClr>
                              </a:gs>
                            </a:gsLst>
                            <a:lin ang="16200000" scaled="1"/>
                            <a:tileRect/>
                          </a:gra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Aprovar tecnicamente artefatos gerados</a:t>
                      </a:r>
                      <a:endParaRPr sz="1400" b="0" i="0" u="none" strike="noStrike" cap="none" dirty="0">
                        <a:ln>
                          <a:noFill/>
                        </a:ln>
                        <a:gradFill flip="none" rotWithShape="1">
                          <a:gsLst>
                            <a:gs pos="0">
                              <a:srgbClr val="FF0000">
                                <a:shade val="30000"/>
                                <a:satMod val="115000"/>
                              </a:srgbClr>
                            </a:gs>
                            <a:gs pos="50000">
                              <a:srgbClr val="FF0000">
                                <a:shade val="67500"/>
                                <a:satMod val="115000"/>
                              </a:srgbClr>
                            </a:gs>
                            <a:gs pos="100000">
                              <a:srgbClr val="FF0000">
                                <a:shade val="100000"/>
                                <a:satMod val="115000"/>
                              </a:srgbClr>
                            </a:gs>
                          </a:gsLst>
                          <a:lin ang="16200000" scaled="1"/>
                          <a:tileRect/>
                        </a:gradFill>
                        <a:latin typeface="Calibri"/>
                        <a:ea typeface="Calibri"/>
                        <a:cs typeface="Calibri"/>
                        <a:sym typeface="Arial"/>
                      </a:endParaRPr>
                    </a:p>
                  </a:txBody>
                  <a:tcPr marL="91450" marR="91450" marT="45725" marB="45725"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1885861"/>
                  </a:ext>
                </a:extLst>
              </a:tr>
              <a:tr h="1072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pt-BR" sz="1400" b="0" i="0" u="none" strike="noStrike" cap="none" dirty="0">
                          <a:ln>
                            <a:noFill/>
                          </a:ln>
                          <a:gradFill flip="none" rotWithShape="1">
                            <a:gsLst>
                              <a:gs pos="0">
                                <a:srgbClr val="FF0000">
                                  <a:shade val="30000"/>
                                  <a:satMod val="115000"/>
                                </a:srgbClr>
                              </a:gs>
                              <a:gs pos="50000">
                                <a:srgbClr val="FF0000">
                                  <a:shade val="67500"/>
                                  <a:satMod val="115000"/>
                                </a:srgbClr>
                              </a:gs>
                              <a:gs pos="100000">
                                <a:srgbClr val="FF0000">
                                  <a:shade val="100000"/>
                                  <a:satMod val="115000"/>
                                </a:srgbClr>
                              </a:gs>
                            </a:gsLst>
                            <a:lin ang="16200000" scaled="1"/>
                            <a:tileRect/>
                          </a:gra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Ana Elisa Cavalheiro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pt-BR" sz="1400" b="0" i="0" u="none" strike="noStrike" cap="none" dirty="0">
                          <a:ln>
                            <a:noFill/>
                          </a:ln>
                          <a:gradFill flip="none" rotWithShape="1">
                            <a:gsLst>
                              <a:gs pos="0">
                                <a:srgbClr val="FF0000">
                                  <a:shade val="30000"/>
                                  <a:satMod val="115000"/>
                                </a:srgbClr>
                              </a:gs>
                              <a:gs pos="50000">
                                <a:srgbClr val="FF0000">
                                  <a:shade val="67500"/>
                                  <a:satMod val="115000"/>
                                </a:srgbClr>
                              </a:gs>
                              <a:gs pos="100000">
                                <a:srgbClr val="FF0000">
                                  <a:shade val="100000"/>
                                  <a:satMod val="115000"/>
                                </a:srgbClr>
                              </a:gs>
                            </a:gsLst>
                            <a:lin ang="16200000" scaled="1"/>
                            <a:tileRect/>
                          </a:gra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Nicole Fava</a:t>
                      </a:r>
                      <a:endParaRPr sz="1400" b="0" i="0" u="none" strike="noStrike" cap="none" dirty="0">
                        <a:ln>
                          <a:noFill/>
                        </a:ln>
                        <a:gradFill flip="none" rotWithShape="1">
                          <a:gsLst>
                            <a:gs pos="0">
                              <a:srgbClr val="FF0000">
                                <a:shade val="30000"/>
                                <a:satMod val="115000"/>
                              </a:srgbClr>
                            </a:gs>
                            <a:gs pos="50000">
                              <a:srgbClr val="FF0000">
                                <a:shade val="67500"/>
                                <a:satMod val="115000"/>
                              </a:srgbClr>
                            </a:gs>
                            <a:gs pos="100000">
                              <a:srgbClr val="FF0000">
                                <a:shade val="100000"/>
                                <a:satMod val="115000"/>
                              </a:srgbClr>
                            </a:gs>
                          </a:gsLst>
                          <a:lin ang="16200000" scaled="1"/>
                          <a:tileRect/>
                        </a:gradFill>
                        <a:latin typeface="Calibri"/>
                        <a:ea typeface="Calibri"/>
                        <a:cs typeface="Calibri"/>
                        <a:sym typeface="Arial"/>
                      </a:endParaRPr>
                    </a:p>
                  </a:txBody>
                  <a:tcPr marL="91450" marR="91450" marT="45725" marB="45725"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pt-BR" sz="1400" b="0" i="0" u="none" strike="noStrike" cap="none" dirty="0">
                          <a:ln>
                            <a:noFill/>
                          </a:ln>
                          <a:gradFill flip="none" rotWithShape="1">
                            <a:gsLst>
                              <a:gs pos="0">
                                <a:srgbClr val="FF0000">
                                  <a:shade val="30000"/>
                                  <a:satMod val="115000"/>
                                </a:srgbClr>
                              </a:gs>
                              <a:gs pos="50000">
                                <a:srgbClr val="FF0000">
                                  <a:shade val="67500"/>
                                  <a:satMod val="115000"/>
                                </a:srgbClr>
                              </a:gs>
                              <a:gs pos="100000">
                                <a:srgbClr val="FF0000">
                                  <a:shade val="100000"/>
                                  <a:satMod val="115000"/>
                                </a:srgbClr>
                              </a:gs>
                            </a:gsLst>
                            <a:lin ang="16200000" scaled="1"/>
                            <a:tileRect/>
                          </a:gra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Gerente de Projeto</a:t>
                      </a:r>
                      <a:endParaRPr sz="1400" b="0" i="0" u="none" strike="noStrike" cap="none" dirty="0">
                        <a:ln>
                          <a:noFill/>
                        </a:ln>
                        <a:gradFill flip="none" rotWithShape="1">
                          <a:gsLst>
                            <a:gs pos="0">
                              <a:srgbClr val="FF0000">
                                <a:shade val="30000"/>
                                <a:satMod val="115000"/>
                              </a:srgbClr>
                            </a:gs>
                            <a:gs pos="50000">
                              <a:srgbClr val="FF0000">
                                <a:shade val="67500"/>
                                <a:satMod val="115000"/>
                              </a:srgbClr>
                            </a:gs>
                            <a:gs pos="100000">
                              <a:srgbClr val="FF0000">
                                <a:shade val="100000"/>
                                <a:satMod val="115000"/>
                              </a:srgbClr>
                            </a:gs>
                          </a:gsLst>
                          <a:lin ang="16200000" scaled="1"/>
                          <a:tileRect/>
                        </a:gradFill>
                        <a:latin typeface="Calibri"/>
                        <a:ea typeface="Calibri"/>
                        <a:cs typeface="Calibri"/>
                        <a:sym typeface="Arial"/>
                      </a:endParaRPr>
                    </a:p>
                  </a:txBody>
                  <a:tcPr marL="91450" marR="91450" marT="45725" marB="45725"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1" indent="0" algn="l" rtl="0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pt-BR" sz="1400" b="0" i="0" u="none" strike="noStrike" cap="none" dirty="0">
                          <a:ln>
                            <a:noFill/>
                          </a:ln>
                          <a:gradFill flip="none" rotWithShape="1">
                            <a:gsLst>
                              <a:gs pos="0">
                                <a:srgbClr val="FF0000">
                                  <a:shade val="30000"/>
                                  <a:satMod val="115000"/>
                                </a:srgbClr>
                              </a:gs>
                              <a:gs pos="50000">
                                <a:srgbClr val="FF0000">
                                  <a:shade val="67500"/>
                                  <a:satMod val="115000"/>
                                </a:srgbClr>
                              </a:gs>
                              <a:gs pos="100000">
                                <a:srgbClr val="FF0000">
                                  <a:shade val="100000"/>
                                  <a:satMod val="115000"/>
                                </a:srgbClr>
                              </a:gs>
                            </a:gsLst>
                            <a:lin ang="16200000" scaled="1"/>
                            <a:tileRect/>
                          </a:gra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Gestão de parceiros e partes interessadas</a:t>
                      </a:r>
                      <a:endParaRPr sz="1400" b="0" i="0" u="none" strike="noStrike" cap="none" dirty="0">
                        <a:ln>
                          <a:noFill/>
                        </a:ln>
                        <a:gradFill flip="none" rotWithShape="1">
                          <a:gsLst>
                            <a:gs pos="0">
                              <a:srgbClr val="FF0000">
                                <a:shade val="30000"/>
                                <a:satMod val="115000"/>
                              </a:srgbClr>
                            </a:gs>
                            <a:gs pos="50000">
                              <a:srgbClr val="FF0000">
                                <a:shade val="67500"/>
                                <a:satMod val="115000"/>
                              </a:srgbClr>
                            </a:gs>
                            <a:gs pos="100000">
                              <a:srgbClr val="FF0000">
                                <a:shade val="100000"/>
                                <a:satMod val="115000"/>
                              </a:srgbClr>
                            </a:gs>
                          </a:gsLst>
                          <a:lin ang="16200000" scaled="1"/>
                          <a:tileRect/>
                        </a:gradFill>
                        <a:latin typeface="Calibri"/>
                        <a:ea typeface="Calibri"/>
                        <a:cs typeface="Calibri"/>
                        <a:sym typeface="Arial"/>
                      </a:endParaRPr>
                    </a:p>
                    <a:p>
                      <a:pPr marL="0" marR="0" lvl="1" indent="0" algn="l" rtl="0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pt-BR" sz="1400" b="0" i="0" u="none" strike="noStrike" cap="none" dirty="0">
                          <a:ln>
                            <a:noFill/>
                          </a:ln>
                          <a:gradFill flip="none" rotWithShape="1">
                            <a:gsLst>
                              <a:gs pos="0">
                                <a:srgbClr val="FF0000">
                                  <a:shade val="30000"/>
                                  <a:satMod val="115000"/>
                                </a:srgbClr>
                              </a:gs>
                              <a:gs pos="50000">
                                <a:srgbClr val="FF0000">
                                  <a:shade val="67500"/>
                                  <a:satMod val="115000"/>
                                </a:srgbClr>
                              </a:gs>
                              <a:gs pos="100000">
                                <a:srgbClr val="FF0000">
                                  <a:shade val="100000"/>
                                  <a:satMod val="115000"/>
                                </a:srgbClr>
                              </a:gs>
                            </a:gsLst>
                            <a:lin ang="16200000" scaled="1"/>
                            <a:tileRect/>
                          </a:gra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Participar de  reuniões periódicas de gestão;</a:t>
                      </a:r>
                      <a:endParaRPr sz="1400" b="0" i="0" u="none" strike="noStrike" cap="none" dirty="0">
                        <a:ln>
                          <a:noFill/>
                        </a:ln>
                        <a:gradFill flip="none" rotWithShape="1">
                          <a:gsLst>
                            <a:gs pos="0">
                              <a:srgbClr val="FF0000">
                                <a:shade val="30000"/>
                                <a:satMod val="115000"/>
                              </a:srgbClr>
                            </a:gs>
                            <a:gs pos="50000">
                              <a:srgbClr val="FF0000">
                                <a:shade val="67500"/>
                                <a:satMod val="115000"/>
                              </a:srgbClr>
                            </a:gs>
                            <a:gs pos="100000">
                              <a:srgbClr val="FF0000">
                                <a:shade val="100000"/>
                                <a:satMod val="115000"/>
                              </a:srgbClr>
                            </a:gs>
                          </a:gsLst>
                          <a:lin ang="16200000" scaled="1"/>
                          <a:tileRect/>
                        </a:gradFill>
                        <a:latin typeface="Calibri"/>
                        <a:ea typeface="Calibri"/>
                        <a:cs typeface="Calibri"/>
                        <a:sym typeface="Arial"/>
                      </a:endParaRPr>
                    </a:p>
                    <a:p>
                      <a:pPr marL="0" marR="0" lvl="1" indent="0" algn="l" rtl="0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pt-BR" sz="1400" b="0" i="0" u="none" strike="noStrike" cap="none" dirty="0">
                          <a:ln>
                            <a:noFill/>
                          </a:ln>
                          <a:gradFill flip="none" rotWithShape="1">
                            <a:gsLst>
                              <a:gs pos="0">
                                <a:srgbClr val="FF0000">
                                  <a:shade val="30000"/>
                                  <a:satMod val="115000"/>
                                </a:srgbClr>
                              </a:gs>
                              <a:gs pos="50000">
                                <a:srgbClr val="FF0000">
                                  <a:shade val="67500"/>
                                  <a:satMod val="115000"/>
                                </a:srgbClr>
                              </a:gs>
                              <a:gs pos="100000">
                                <a:srgbClr val="FF0000">
                                  <a:shade val="100000"/>
                                  <a:satMod val="115000"/>
                                </a:srgbClr>
                              </a:gs>
                            </a:gsLst>
                            <a:lin ang="16200000" scaled="1"/>
                            <a:tileRect/>
                          </a:gra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Responsável por atualizar as informações de status na plataforma</a:t>
                      </a:r>
                      <a:endParaRPr sz="1400" b="0" i="0" u="none" strike="noStrike" cap="none" dirty="0">
                        <a:ln>
                          <a:noFill/>
                        </a:ln>
                        <a:gradFill flip="none" rotWithShape="1">
                          <a:gsLst>
                            <a:gs pos="0">
                              <a:srgbClr val="FF0000">
                                <a:shade val="30000"/>
                                <a:satMod val="115000"/>
                              </a:srgbClr>
                            </a:gs>
                            <a:gs pos="50000">
                              <a:srgbClr val="FF0000">
                                <a:shade val="67500"/>
                                <a:satMod val="115000"/>
                              </a:srgbClr>
                            </a:gs>
                            <a:gs pos="100000">
                              <a:srgbClr val="FF0000">
                                <a:shade val="100000"/>
                                <a:satMod val="115000"/>
                              </a:srgbClr>
                            </a:gs>
                          </a:gsLst>
                          <a:lin ang="16200000" scaled="1"/>
                          <a:tileRect/>
                        </a:gradFill>
                        <a:latin typeface="Calibri"/>
                        <a:ea typeface="Calibri"/>
                        <a:cs typeface="Calibri"/>
                        <a:sym typeface="Arial"/>
                      </a:endParaRPr>
                    </a:p>
                  </a:txBody>
                  <a:tcPr marL="91450" marR="91450" marT="45725" marB="45725"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004878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733200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8" descr="https://www.lista11.com.br/adm/fotos/estabelecimentos/3455/premium-chopp-distribuidora-de-bebidas-aluguel-de-maquina-de-chopp-em-caieiras-delivery-de-bebidas-cerveja-artesanal-em-franco-da-rocha-centro_3455_11619_170801538065ce3f1445c2e.jpeg">
            <a:extLst>
              <a:ext uri="{FF2B5EF4-FFF2-40B4-BE49-F238E27FC236}">
                <a16:creationId xmlns:a16="http://schemas.microsoft.com/office/drawing/2014/main" id="{CA8DB991-8025-4F8D-B669-A9ECB2A129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CD734625-5F5C-42E5-9CC6-47887DA2096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8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4" name="Picture 6" descr="https://bkpsitecpsnew.blob.core.windows.net/uploadsitecps/sites/1/2012/05/Logo-Fatec-1200x800-1.jpg">
            <a:extLst>
              <a:ext uri="{FF2B5EF4-FFF2-40B4-BE49-F238E27FC236}">
                <a16:creationId xmlns:a16="http://schemas.microsoft.com/office/drawing/2014/main" id="{D108BC2C-C337-4E40-AA91-CA2A272D2C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62744" y="-237552"/>
            <a:ext cx="2324912" cy="1549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Google Shape;99;p14">
            <a:extLst>
              <a:ext uri="{FF2B5EF4-FFF2-40B4-BE49-F238E27FC236}">
                <a16:creationId xmlns:a16="http://schemas.microsoft.com/office/drawing/2014/main" id="{7E4025E5-A6C5-4B71-B5DA-86CAA685A210}"/>
              </a:ext>
            </a:extLst>
          </p:cNvPr>
          <p:cNvSpPr txBox="1">
            <a:spLocks/>
          </p:cNvSpPr>
          <p:nvPr/>
        </p:nvSpPr>
        <p:spPr>
          <a:xfrm>
            <a:off x="838200" y="143909"/>
            <a:ext cx="10515600" cy="7870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2400"/>
              <a:buFont typeface="Arial"/>
              <a:buNone/>
            </a:pPr>
            <a:r>
              <a:rPr lang="pt-BR" b="1" dirty="0">
                <a:ln>
                  <a:solidFill>
                    <a:schemeClr val="bg1"/>
                  </a:solidFill>
                </a:ln>
                <a:gradFill flip="none" rotWithShape="1">
                  <a:gsLst>
                    <a:gs pos="0">
                      <a:srgbClr val="FF0000">
                        <a:shade val="30000"/>
                        <a:satMod val="115000"/>
                      </a:srgbClr>
                    </a:gs>
                    <a:gs pos="50000">
                      <a:srgbClr val="FF0000">
                        <a:shade val="67500"/>
                        <a:satMod val="115000"/>
                      </a:srgbClr>
                    </a:gs>
                    <a:gs pos="100000">
                      <a:srgbClr val="FF0000">
                        <a:shade val="100000"/>
                        <a:satMod val="115000"/>
                      </a:srgbClr>
                    </a:gs>
                  </a:gsLst>
                  <a:lin ang="16200000" scaled="1"/>
                  <a:tileRect/>
                </a:gradFill>
                <a:sym typeface="Arial"/>
              </a:rPr>
              <a:t>Cronograma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3D2E1BFA-82D2-9542-0B29-CB28E1A962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1861" y="930928"/>
            <a:ext cx="9688277" cy="5725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83824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8" descr="https://www.lista11.com.br/adm/fotos/estabelecimentos/3455/premium-chopp-distribuidora-de-bebidas-aluguel-de-maquina-de-chopp-em-caieiras-delivery-de-bebidas-cerveja-artesanal-em-franco-da-rocha-centro_3455_11619_170801538065ce3f1445c2e.jpeg">
            <a:extLst>
              <a:ext uri="{FF2B5EF4-FFF2-40B4-BE49-F238E27FC236}">
                <a16:creationId xmlns:a16="http://schemas.microsoft.com/office/drawing/2014/main" id="{CA8DB991-8025-4F8D-B669-A9ECB2A129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CD734625-5F5C-42E5-9CC6-47887DA2096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8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4" name="Picture 6" descr="https://bkpsitecpsnew.blob.core.windows.net/uploadsitecps/sites/1/2012/05/Logo-Fatec-1200x800-1.jpg">
            <a:extLst>
              <a:ext uri="{FF2B5EF4-FFF2-40B4-BE49-F238E27FC236}">
                <a16:creationId xmlns:a16="http://schemas.microsoft.com/office/drawing/2014/main" id="{D108BC2C-C337-4E40-AA91-CA2A272D2C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62744" y="-237552"/>
            <a:ext cx="2324912" cy="1549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Google Shape;99;p14">
            <a:extLst>
              <a:ext uri="{FF2B5EF4-FFF2-40B4-BE49-F238E27FC236}">
                <a16:creationId xmlns:a16="http://schemas.microsoft.com/office/drawing/2014/main" id="{7E4025E5-A6C5-4B71-B5DA-86CAA685A210}"/>
              </a:ext>
            </a:extLst>
          </p:cNvPr>
          <p:cNvSpPr txBox="1">
            <a:spLocks/>
          </p:cNvSpPr>
          <p:nvPr/>
        </p:nvSpPr>
        <p:spPr>
          <a:xfrm>
            <a:off x="838200" y="525371"/>
            <a:ext cx="10515600" cy="7870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2400"/>
              <a:buFont typeface="Arial"/>
              <a:buNone/>
            </a:pPr>
            <a:r>
              <a:rPr lang="pt-BR" b="1" dirty="0">
                <a:ln>
                  <a:solidFill>
                    <a:schemeClr val="bg1"/>
                  </a:solidFill>
                </a:ln>
                <a:gradFill flip="none" rotWithShape="1">
                  <a:gsLst>
                    <a:gs pos="0">
                      <a:srgbClr val="FF0000">
                        <a:shade val="30000"/>
                        <a:satMod val="115000"/>
                      </a:srgbClr>
                    </a:gs>
                    <a:gs pos="50000">
                      <a:srgbClr val="FF0000">
                        <a:shade val="67500"/>
                        <a:satMod val="115000"/>
                      </a:srgbClr>
                    </a:gs>
                    <a:gs pos="100000">
                      <a:srgbClr val="FF0000">
                        <a:shade val="100000"/>
                        <a:satMod val="115000"/>
                      </a:srgbClr>
                    </a:gs>
                  </a:gsLst>
                  <a:lin ang="16200000" scaled="1"/>
                  <a:tileRect/>
                </a:gradFill>
                <a:sym typeface="Arial"/>
              </a:rPr>
              <a:t>Próximos Passos</a:t>
            </a:r>
          </a:p>
        </p:txBody>
      </p:sp>
      <p:sp>
        <p:nvSpPr>
          <p:cNvPr id="7" name="Google Shape;94;p13">
            <a:extLst>
              <a:ext uri="{FF2B5EF4-FFF2-40B4-BE49-F238E27FC236}">
                <a16:creationId xmlns:a16="http://schemas.microsoft.com/office/drawing/2014/main" id="{FFAA33C8-DF5E-4778-BE23-379BDF657A92}"/>
              </a:ext>
            </a:extLst>
          </p:cNvPr>
          <p:cNvSpPr txBox="1">
            <a:spLocks/>
          </p:cNvSpPr>
          <p:nvPr/>
        </p:nvSpPr>
        <p:spPr>
          <a:xfrm>
            <a:off x="962023" y="1435641"/>
            <a:ext cx="10096501" cy="46769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342900" indent="-342900" algn="l">
              <a:spcBef>
                <a:spcPts val="0"/>
              </a:spcBef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pt-BR" b="1" dirty="0">
                <a:ln w="12700" cmpd="sng">
                  <a:solidFill>
                    <a:schemeClr val="bg1"/>
                  </a:solidFill>
                  <a:prstDash val="solid"/>
                </a:ln>
                <a:gradFill flip="none" rotWithShape="1">
                  <a:gsLst>
                    <a:gs pos="0">
                      <a:srgbClr val="FF0000">
                        <a:shade val="30000"/>
                        <a:satMod val="115000"/>
                      </a:srgbClr>
                    </a:gs>
                    <a:gs pos="50000">
                      <a:srgbClr val="FF0000">
                        <a:shade val="67500"/>
                        <a:satMod val="115000"/>
                      </a:srgbClr>
                    </a:gs>
                    <a:gs pos="100000">
                      <a:srgbClr val="FF0000">
                        <a:shade val="100000"/>
                        <a:satMod val="115000"/>
                      </a:srgbClr>
                    </a:gs>
                  </a:gsLst>
                  <a:lin ang="16200000" scaled="1"/>
                  <a:tileRect/>
                </a:gradFill>
              </a:rPr>
              <a:t>Limpeza e Preparação dos Dados</a:t>
            </a:r>
          </a:p>
          <a:p>
            <a:pPr marL="342900" indent="-342900" algn="l">
              <a:spcBef>
                <a:spcPts val="0"/>
              </a:spcBef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pt-BR" b="1" dirty="0">
                <a:ln w="12700" cmpd="sng">
                  <a:solidFill>
                    <a:schemeClr val="bg1"/>
                  </a:solidFill>
                  <a:prstDash val="solid"/>
                </a:ln>
                <a:gradFill flip="none" rotWithShape="1">
                  <a:gsLst>
                    <a:gs pos="0">
                      <a:srgbClr val="FF0000">
                        <a:shade val="30000"/>
                        <a:satMod val="115000"/>
                      </a:srgbClr>
                    </a:gs>
                    <a:gs pos="50000">
                      <a:srgbClr val="FF0000">
                        <a:shade val="67500"/>
                        <a:satMod val="115000"/>
                      </a:srgbClr>
                    </a:gs>
                    <a:gs pos="100000">
                      <a:srgbClr val="FF0000">
                        <a:shade val="100000"/>
                        <a:satMod val="115000"/>
                      </a:srgbClr>
                    </a:gs>
                  </a:gsLst>
                  <a:lin ang="16200000" scaled="1"/>
                  <a:tileRect/>
                </a:gradFill>
              </a:rPr>
              <a:t>Definição da Arquitetura </a:t>
            </a:r>
          </a:p>
          <a:p>
            <a:pPr marL="342900" indent="-342900" algn="l">
              <a:spcBef>
                <a:spcPts val="0"/>
              </a:spcBef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pt-BR" b="1" dirty="0">
                <a:ln w="12700" cmpd="sng">
                  <a:solidFill>
                    <a:schemeClr val="bg1"/>
                  </a:solidFill>
                  <a:prstDash val="solid"/>
                </a:ln>
                <a:gradFill flip="none" rotWithShape="1">
                  <a:gsLst>
                    <a:gs pos="0">
                      <a:srgbClr val="FF0000">
                        <a:shade val="30000"/>
                        <a:satMod val="115000"/>
                      </a:srgbClr>
                    </a:gs>
                    <a:gs pos="50000">
                      <a:srgbClr val="FF0000">
                        <a:shade val="67500"/>
                        <a:satMod val="115000"/>
                      </a:srgbClr>
                    </a:gs>
                    <a:gs pos="100000">
                      <a:srgbClr val="FF0000">
                        <a:shade val="100000"/>
                        <a:satMod val="115000"/>
                      </a:srgbClr>
                    </a:gs>
                  </a:gsLst>
                  <a:lin ang="16200000" scaled="1"/>
                  <a:tileRect/>
                </a:gradFill>
              </a:rPr>
              <a:t>Desenvolvimento da Plataforma</a:t>
            </a:r>
          </a:p>
          <a:p>
            <a:pPr marL="342900" indent="-342900" algn="l">
              <a:spcBef>
                <a:spcPts val="0"/>
              </a:spcBef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pt-BR" b="1" dirty="0">
                <a:ln w="12700" cmpd="sng">
                  <a:solidFill>
                    <a:schemeClr val="bg1"/>
                  </a:solidFill>
                  <a:prstDash val="solid"/>
                </a:ln>
                <a:gradFill flip="none" rotWithShape="1">
                  <a:gsLst>
                    <a:gs pos="0">
                      <a:srgbClr val="FF0000">
                        <a:shade val="30000"/>
                        <a:satMod val="115000"/>
                      </a:srgbClr>
                    </a:gs>
                    <a:gs pos="50000">
                      <a:srgbClr val="FF0000">
                        <a:shade val="67500"/>
                        <a:satMod val="115000"/>
                      </a:srgbClr>
                    </a:gs>
                    <a:gs pos="100000">
                      <a:srgbClr val="FF0000">
                        <a:shade val="100000"/>
                        <a:satMod val="115000"/>
                      </a:srgbClr>
                    </a:gs>
                  </a:gsLst>
                  <a:lin ang="16200000" scaled="1"/>
                  <a:tileRect/>
                </a:gradFill>
              </a:rPr>
              <a:t>Homologação e </a:t>
            </a:r>
            <a:r>
              <a:rPr lang="pt-BR" b="1" dirty="0" err="1">
                <a:ln w="12700" cmpd="sng">
                  <a:solidFill>
                    <a:schemeClr val="bg1"/>
                  </a:solidFill>
                  <a:prstDash val="solid"/>
                </a:ln>
                <a:gradFill flip="none" rotWithShape="1">
                  <a:gsLst>
                    <a:gs pos="0">
                      <a:srgbClr val="FF0000">
                        <a:shade val="30000"/>
                        <a:satMod val="115000"/>
                      </a:srgbClr>
                    </a:gs>
                    <a:gs pos="50000">
                      <a:srgbClr val="FF0000">
                        <a:shade val="67500"/>
                        <a:satMod val="115000"/>
                      </a:srgbClr>
                    </a:gs>
                    <a:gs pos="100000">
                      <a:srgbClr val="FF0000">
                        <a:shade val="100000"/>
                        <a:satMod val="115000"/>
                      </a:srgbClr>
                    </a:gs>
                  </a:gsLst>
                  <a:lin ang="16200000" scaled="1"/>
                  <a:tileRect/>
                </a:gradFill>
              </a:rPr>
              <a:t>Handover</a:t>
            </a:r>
            <a:r>
              <a:rPr lang="pt-BR" b="1" dirty="0">
                <a:ln w="12700" cmpd="sng">
                  <a:solidFill>
                    <a:schemeClr val="bg1"/>
                  </a:solidFill>
                  <a:prstDash val="solid"/>
                </a:ln>
                <a:gradFill flip="none" rotWithShape="1">
                  <a:gsLst>
                    <a:gs pos="0">
                      <a:srgbClr val="FF0000">
                        <a:shade val="30000"/>
                        <a:satMod val="115000"/>
                      </a:srgbClr>
                    </a:gs>
                    <a:gs pos="50000">
                      <a:srgbClr val="FF0000">
                        <a:shade val="67500"/>
                        <a:satMod val="115000"/>
                      </a:srgbClr>
                    </a:gs>
                    <a:gs pos="100000">
                      <a:srgbClr val="FF0000">
                        <a:shade val="100000"/>
                        <a:satMod val="115000"/>
                      </a:srgbClr>
                    </a:gs>
                  </a:gsLst>
                  <a:lin ang="16200000" scaled="1"/>
                  <a:tileRect/>
                </a:gradFill>
              </a:rPr>
              <a:t>: validação</a:t>
            </a:r>
          </a:p>
          <a:p>
            <a:pPr marL="342900" indent="-342900" algn="l">
              <a:spcBef>
                <a:spcPts val="0"/>
              </a:spcBef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pt-BR" b="1" dirty="0">
                <a:ln w="12700" cmpd="sng">
                  <a:solidFill>
                    <a:schemeClr val="bg1"/>
                  </a:solidFill>
                  <a:prstDash val="solid"/>
                </a:ln>
                <a:gradFill flip="none" rotWithShape="1">
                  <a:gsLst>
                    <a:gs pos="0">
                      <a:srgbClr val="FF0000">
                        <a:shade val="30000"/>
                        <a:satMod val="115000"/>
                      </a:srgbClr>
                    </a:gs>
                    <a:gs pos="50000">
                      <a:srgbClr val="FF0000">
                        <a:shade val="67500"/>
                        <a:satMod val="115000"/>
                      </a:srgbClr>
                    </a:gs>
                    <a:gs pos="100000">
                      <a:srgbClr val="FF0000">
                        <a:shade val="100000"/>
                        <a:satMod val="115000"/>
                      </a:srgbClr>
                    </a:gs>
                  </a:gsLst>
                  <a:lin ang="16200000" scaled="1"/>
                  <a:tileRect/>
                </a:gradFill>
              </a:rPr>
              <a:t>Documentação Final</a:t>
            </a:r>
          </a:p>
        </p:txBody>
      </p:sp>
    </p:spTree>
    <p:extLst>
      <p:ext uri="{BB962C8B-B14F-4D97-AF65-F5344CB8AC3E}">
        <p14:creationId xmlns:p14="http://schemas.microsoft.com/office/powerpoint/2010/main" val="195430741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187</TotalTime>
  <Words>611</Words>
  <Application>Microsoft Office PowerPoint</Application>
  <PresentationFormat>Widescreen</PresentationFormat>
  <Paragraphs>90</Paragraphs>
  <Slides>10</Slides>
  <Notes>10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3" baseType="lpstr">
      <vt:lpstr>Arial</vt:lpstr>
      <vt:lpstr>Calibri</vt:lpstr>
      <vt:lpstr>Tema do Office</vt:lpstr>
      <vt:lpstr>Chopp e Cia</vt:lpstr>
      <vt:lpstr>Agenda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Capa</dc:title>
  <dc:creator>Alunos</dc:creator>
  <cp:lastModifiedBy>User</cp:lastModifiedBy>
  <cp:revision>15</cp:revision>
  <dcterms:modified xsi:type="dcterms:W3CDTF">2026-03-07T11:00:52Z</dcterms:modified>
</cp:coreProperties>
</file>